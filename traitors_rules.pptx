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Wait for the room to settle. Let the title sit on screen for a moment -- build the atmosphere. Dim the lights if possible.</a:t>
            </a:r>
          </a:p>
          <a:p/>
          <a:p>
            <a:r>
              <a:t>Say: 'Welcome... to The Traitors. Tonight, 34 of you enter this game. Not all of you can be trusted. Some of you have already been chosen -- chosen to deceive, to manipulate, and to betray. The question is... who?'</a:t>
            </a:r>
          </a:p>
          <a:p/>
          <a:p>
            <a:r>
              <a:t>Pause. Let it land. Then advance.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slide slowly and dramatically. Low voice.</a:t>
            </a:r>
          </a:p>
          <a:p/>
          <a:p>
            <a:r>
              <a:t>'Welcome to the Castle. Tonight you enter a world of deception. Behind these walls, alliances will form -- and shatter. Trust will be weaponised. And among you, right now, in this room... walk Traitors. They look like you. They talk like you. They sit beside you. But they want you gone.'</a:t>
            </a:r>
          </a:p>
          <a:p/>
          <a:p>
            <a:r>
              <a:t>Pause after 'gone.' Let the paranoia begin.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core concept clearly.</a:t>
            </a:r>
          </a:p>
          <a:p/>
          <a:p>
            <a:r>
              <a:t>'This is a game of social deduction. 34 of you are playing tonight. 28 of you are Faithful -- your job is to figure out who the Traitors are and vote them out. But 6 of you... are Traitors. You know who you are. Your job is to blend in, deceive, and eliminate the Faithful one by one -- without getting caught.</a:t>
            </a:r>
          </a:p>
          <a:p/>
          <a:p>
            <a:r>
              <a:t>Through challenges, heated debates, dramatic votes, and secret night-time murders, we will whittle this group down from 34 to a Final Circle of 6. If all Traitors are gone by then, the Faithful win. If even one Traitor survives... the Traitors win.'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critical moment. You need complete control of the room.</a:t>
            </a:r>
          </a:p>
          <a:p/>
          <a:p>
            <a:r>
              <a:t>'In a moment, I will hand each of you a sealed envelope. Do NOT open it until I say so. When I give the word, open your envelope privately. Read the card inside. It will tell you if you are Faithful... or a Traitor. Do not react. Do not gasp. Do not look at anyone. Do not smile. Everyone in this room is watching everyone else right now. Read it, memorise it, seal it back up, and return it to me.</a:t>
            </a:r>
          </a:p>
          <a:p/>
          <a:p>
            <a:r>
              <a:t>Remember: from this moment on, the game has begun.'</a:t>
            </a:r>
          </a:p>
          <a:p/>
          <a:p>
            <a:r>
              <a:t>LOGISTICS: Hand out envelopes. Give them 30 seconds. Collect them all back. Traitor envelopes also contain their house assignment and a reminder that they will meet during the first Night phase.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 card said FAITHFUL, this is your mission. You are loyal. You are honest. And you are being hunted. The Traitors are in this room, pretending to be just like you. Your job is to figure out who they are. Watch behaviour. Listen to arguments. Notice who deflects, who accuses too quickly, who stays too quiet. Your main weapon is your vote at the Round Table. Use it wisely. And try to survive the night -- because the Traitors will be choosing someone to eliminate after dark.'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vague and menacing. Do NOT reveal any traitor mechanics.</a:t>
            </a:r>
          </a:p>
          <a:p/>
          <a:p>
            <a:r>
              <a:t>'Six of you have been chosen. You know who you are. You will walk among the Faithful. You will participate in every challenge, sit at every debate, cast your vote at every banishment -- all while hiding what you truly are. And when night falls... you will decide who does not return.</a:t>
            </a:r>
          </a:p>
          <a:p/>
          <a:p>
            <a:r>
              <a:t>To the Faithful: they are already watching you. To the Traitors: the game has begun.'</a:t>
            </a:r>
          </a:p>
          <a:p/>
          <a:p>
            <a:r>
              <a:t>Do NOT elaborate on traitor powers, night mechanics, or how traitors communicate. Keep the mystery alive.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will be split into two houses -- House A and House B -- each with 17 players. Each house contains 3 Traitors. During Phase 1, you will only interact with your own house. The Traitors in House A only know the other Traitors in House A. Same for House B. They do not know who the Traitors are in the other house.</a:t>
            </a:r>
          </a:p>
          <a:p/>
          <a:p>
            <a:r>
              <a:t>When we are down to 22 players, the houses will merge into one. At that point... things get very interesting.'</a:t>
            </a:r>
          </a:p>
          <a:p/>
          <a:p>
            <a:r>
              <a:t>NOTE: House assignments were included in the envelopes.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the House phase. Each house runs through 3 complete rotations. Each rotation has four parts: a 5-minute Challenge, a 10-minute Debate at the Round Table, a 5-minute Vote to banish someone, and a 2-minute Night phase where someone is murdered.</a:t>
            </a:r>
          </a:p>
          <a:p/>
          <a:p>
            <a:r>
              <a:t>That means every single rotation, two people leave the game from each house -- one voted out by the group, one eliminated in the dark. After 3 rotations, we go from 34 down to 22. At 22, the houses merge.</a:t>
            </a:r>
          </a:p>
          <a:p/>
          <a:p>
            <a:r>
              <a:t>Houses alternate. House A goes first each rotation, then House 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round starts with a challenge. These are quick -- 5 minutes or less. They might be trivia, physical tasks, or team puzzles. Pay attention to who is trying to win and who might be quietly holding back. Challenge winners may earn special advantages -- sometimes protection, sometimes a power that can change the game.</a:t>
            </a:r>
          </a:p>
          <a:p/>
          <a:p>
            <a:r>
              <a:t>I will explain each challenge before we play it. The rules will be simple. But remember: everything in this game is information. How someone plays a challenge tells you something about who they 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each challenge, we gather at the Round Table for a 10-minute debate. This is the heart of the game. When I call on you, you have exactly 30 seconds to speak. You can accuse someone, defend yourself, ask a question, or make an argument. When your 30 seconds are up, you stop.</a:t>
            </a:r>
          </a:p>
          <a:p/>
          <a:p>
            <a:r>
              <a:t>CRITICAL RULES: All conversation must be public. No whispering. No side conversations. No phones. If I catch whispering, I will call it out. Everything said at this table is heard by everyone.</a:t>
            </a:r>
          </a:p>
          <a:p/>
          <a:p>
            <a:r>
              <a:t>This is where Traitors will try to blend in -- and where Faithful players will try to catch them. Listen carefully. Watch body language. The truth is in the details.'</a:t>
            </a:r>
          </a:p>
          <a:p/>
          <a:p>
            <a:r>
              <a:t>HOST TIP: Use a visible timer. Call on players who are too quiet. Keep energy high. Cut people off at 30 seconds firmly but fairly.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debate, it is time to vote. Each of you writes one name on your voting slip -- the person you want banished. No discussion during voting. I will collect them, read them aloud one by one, and the player with the most votes is banished from the game.</a:t>
            </a:r>
          </a:p>
          <a:p/>
          <a:p>
            <a:r>
              <a:t>If there is a tie, we do a quick revote between just the tied players. If still tied, I break the tie as Host.</a:t>
            </a:r>
          </a:p>
          <a:p/>
          <a:p>
            <a:r>
              <a:t>When you are banished, you reveal your role card. You show the room whether you were Faithful or a Traitor. This is a critical moment -- it gives everyone information. Did the group make the right call, or did the Traitors just convince you to eliminate one of your own?</a:t>
            </a:r>
          </a:p>
          <a:p/>
          <a:p>
            <a:r>
              <a:t>Choose carefully. Every wrong vote is a win for the Traitors.'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mysterious. Do NOT explain how traitors choose their victim.</a:t>
            </a:r>
          </a:p>
          <a:p/>
          <a:p>
            <a:r>
              <a:t>'After the banishment, night falls. I will ask everyone to close their eyes or bow their heads. The room must be silent. I will conduct the night phase. You do not need to know what happens in the dark -- only that when morning comes, someone will not be with us anymore. The murdered player will be revealed and their role shown.</a:t>
            </a:r>
          </a:p>
          <a:p/>
          <a:p>
            <a:r>
              <a:t>Note: Phones may ONLY be used during the night phase if needed. Put them away when morning comes.'</a:t>
            </a:r>
          </a:p>
          <a:p/>
          <a:p>
            <a:r>
              <a:t>HOST MECHANICS (do not say aloud): Tap traitors on shoulder to open eyes. They silently point to agree on a victim. You confirm with a nod. They close eyes. You tap the victim. Morning.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reach 22 players, the two houses merge into one. House A and House B are dissolved. You are all together now. And here is the key moment: ALL surviving Traitors now know each other. Before the merge, Traitors only knew their own housemates. Now the full network is revealed -- to them.</a:t>
            </a:r>
          </a:p>
          <a:p/>
          <a:p>
            <a:r>
              <a:t>The merge round is special. There will be a Merge Challenge with a powerful reward -- the Dagger. There will be the Chalice Ceremony -- a ritual toast. And there will be a DOUBLE banishment -- two players will be voted out in the same round. Then night falls as usual.</a:t>
            </a:r>
          </a:p>
          <a:p/>
          <a:p>
            <a:r>
              <a:t>From the merge onward, the game gets faster and more intense. 22 players to the endgame.'</a:t>
            </a:r>
          </a:p>
          <a:p/>
          <a:p>
            <a:r>
              <a:t>NOTE: If fewer than 3 Traitors remain at merge, secretly recruit 1. Do this privately before the merge announcement.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Merge Challenge awards a powerful weapon: The Dagger. Whoever wins the challenge earns the right to cast TWO votes in a single banishment instead of one. Both votes must go to the same person.</a:t>
            </a:r>
          </a:p>
          <a:p/>
          <a:p>
            <a:r>
              <a:t>You must announce that you are using the Dagger BEFORE the votes are revealed. You can use it the round you win it or save it for the next round -- but after two rounds, it expires. And if you get banished while holding it, the Dagger is gone.</a:t>
            </a:r>
          </a:p>
          <a:p/>
          <a:p>
            <a:r>
              <a:t>This is political power. It can swing a close vote. It makes you a target AND an ally. Choose wisely when to play it.'</a:t>
            </a:r>
          </a:p>
          <a:p/>
          <a:p>
            <a:r>
              <a:t>HOST NOTE: The Dagger cannot be used at the Final 6. Announce dagger use publicly before reading votes.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DELIBERATELY VAGUE. Do NOT explain the Chalice Mark mechanic. The secret mechanic is that one Traitor can 'mark' a player during the ceremony by interlocking arms and saying 'Cheers' -- that player is killed at night instead of the normal murder. But players must NOT know this.</a:t>
            </a:r>
          </a:p>
          <a:p/>
          <a:p>
            <a:r>
              <a:t>Say: 'To celebrate the merge, we hold the Chalice Ceremony. Each of you will receive a chalice. You will have 3 to 4 minutes to mingle, chat, and toast to new alliances. It is a moment of celebration... and perhaps something more. Enjoy it. But be mindful of who you share your toast with.'</a:t>
            </a:r>
          </a:p>
          <a:p/>
          <a:p>
            <a:r>
              <a:t>The vagueness IS the point. Players will wonder later why you mentioned 'be careful who you drink with.' That seed of doubt is intentional.</a:t>
            </a:r>
          </a:p>
          <a:p/>
          <a:p>
            <a:r>
              <a:t>HOST: Watch for the traitor arm-interlock. You must witness it for it to count.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reach 11 players, the game changes. No more murders. No more night phase. From 11 down to 6, the only way someone leaves is by banishment. That means every single vote counts even more. There is nowhere to hide.</a:t>
            </a:r>
          </a:p>
          <a:p/>
          <a:p>
            <a:r>
              <a:t>Each round is a debate followed by a vote. One person is banished. They reveal their role. And the circle gets smaller. 11, 10, 9, 8, 7... until we reach 6.</a:t>
            </a:r>
          </a:p>
          <a:p/>
          <a:p>
            <a:r>
              <a:t>At 6 players, the Final Circle is called. This is the moment everything has been building toward.'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6 players, I will offer the group a choice. You can vote to END THE GAME -- right now -- or you can vote to CONTINUE. If you end the game, all remaining Traitors reveal themselves. If even ONE Traitor is still standing, the Traitors win. If all Traitors have been banished, the Faithful win.</a:t>
            </a:r>
          </a:p>
          <a:p/>
          <a:p>
            <a:r>
              <a:t>But if you are not confident -- if you think a Traitor is still hiding -- you can vote to CONTINUE. This triggers another banishment round. You shrink to 5, then potentially 4, and each time you can vote to end or continue.</a:t>
            </a:r>
          </a:p>
          <a:p/>
          <a:p>
            <a:r>
              <a:t>The tension here is enormous. End too early and a Traitor slips through. Continue too long and you might banish your own allies.</a:t>
            </a:r>
          </a:p>
          <a:p/>
          <a:p>
            <a:r>
              <a:t>This is the final test of trust.'</a:t>
            </a:r>
          </a:p>
          <a:p/>
          <a:p>
            <a:r>
              <a:t>HOST: A simple majority vote decides END vs CONTINUE. Ties default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rule clearly and firmly. These are non-negotiable.</a:t>
            </a:r>
          </a:p>
          <a:p/>
          <a:p>
            <a:r>
              <a:t>'Before we begin, the rules. These are absolute.</a:t>
            </a:r>
          </a:p>
          <a:p/>
          <a:p>
            <a:r>
              <a:t>ONE: You have 30 seconds to speak when called upon. I will cut you off.</a:t>
            </a:r>
          </a:p>
          <a:p/>
          <a:p>
            <a:r>
              <a:t>TWO: No whispering. All conversation happens publicly. If I see or hear side conversations, I will call you out.</a:t>
            </a:r>
          </a:p>
          <a:p/>
          <a:p>
            <a:r>
              <a:t>THREE: Phones away. No texting, no Googling, no messaging. The only time phones are permitted is during the Night phase.</a:t>
            </a:r>
          </a:p>
          <a:p/>
          <a:p>
            <a:r>
              <a:t>FOUR: If you are eliminated -- banished or murdered -- you are silent. No speaking, no gesturing, no mouthing words, no facial expressions meant to influence. You are a ghost.</a:t>
            </a:r>
          </a:p>
          <a:p/>
          <a:p>
            <a:r>
              <a:t>FIVE: My decisions as Host are final. If there is a dispute, I rule. No appeals.</a:t>
            </a:r>
          </a:p>
          <a:p/>
          <a:p>
            <a:r>
              <a:t>These rules exist to keep the game fair and dramatic. Respect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final slide before gameplay begins. Build the tension.</a:t>
            </a:r>
          </a:p>
          <a:p/>
          <a:p>
            <a:r>
              <a:t>'The rules have been set. Your roles have been assigned. The houses have been formed. There is nothing left to explain.</a:t>
            </a:r>
          </a:p>
          <a:p/>
          <a:p>
            <a:r>
              <a:t>[Pause]</a:t>
            </a:r>
          </a:p>
          <a:p/>
          <a:p>
            <a:r>
              <a:t>The castle doors are sealed. The Traitors are among you. From this moment on, every word, every glance, every silence... means something.</a:t>
            </a:r>
          </a:p>
          <a:p/>
          <a:p>
            <a:r>
              <a:t>[Long pause]</a:t>
            </a:r>
          </a:p>
          <a:p/>
          <a:p>
            <a:r>
              <a:t>Trust no one. Let the game begin.'</a:t>
            </a:r>
          </a:p>
          <a:p/>
          <a:p>
            <a:r>
              <a:t>HOST: Immediately transition to Phase 1. Call House A to their area. Begin the first challenge. Keep the energy high. The game is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914400" y="457200"/>
            <a:ext cx="10362895" cy="5943600"/>
          </a:xfrm>
          <a:prstGeom prst="rect">
            <a:avLst/>
          </a:prstGeom>
          <a:solidFill>
            <a:srgbClr val="10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914400"/>
            <a:ext cx="8534095" cy="5029200"/>
          </a:xfrm>
          <a:prstGeom prst="rect">
            <a:avLst/>
          </a:prstGeom>
          <a:solidFill>
            <a:srgbClr val="140A0A"/>
          </a:solidFill>
          <a:ln w="254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809847" y="1828800"/>
            <a:ext cx="4572000" cy="27432"/>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23847" y="2011680"/>
            <a:ext cx="9144000" cy="1645920"/>
          </a:xfrm>
          <a:prstGeom prst="rect">
            <a:avLst/>
          </a:prstGeom>
          <a:noFill/>
        </p:spPr>
        <p:txBody>
          <a:bodyPr wrap="square"/>
          <a:lstStyle/>
          <a:p>
            <a:pPr algn="ctr">
              <a:lnSpc>
                <a:spcPct val="130000"/>
              </a:lnSpc>
              <a:spcAft>
                <a:spcPts val="600"/>
              </a:spcAft>
              <a:defRPr sz="7200" b="1">
                <a:solidFill>
                  <a:srgbClr val="DAA520"/>
                </a:solidFill>
                <a:latin typeface="Calibri"/>
              </a:defRPr>
            </a:pPr>
            <a:r>
              <a:t>THE TRAITORS</a:t>
            </a:r>
          </a:p>
        </p:txBody>
      </p:sp>
      <p:sp>
        <p:nvSpPr>
          <p:cNvPr id="6" name="Rectangle 5"/>
          <p:cNvSpPr/>
          <p:nvPr/>
        </p:nvSpPr>
        <p:spPr>
          <a:xfrm>
            <a:off x="3809847" y="3657600"/>
            <a:ext cx="4572000" cy="27432"/>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38247" y="3931920"/>
            <a:ext cx="7315200" cy="1371600"/>
          </a:xfrm>
          <a:prstGeom prst="rect">
            <a:avLst/>
          </a:prstGeom>
          <a:noFill/>
        </p:spPr>
        <p:txBody>
          <a:bodyPr wrap="square"/>
          <a:lstStyle/>
          <a:p>
            <a:pPr algn="ctr">
              <a:spcAft>
                <a:spcPts val="1200"/>
              </a:spcAft>
              <a:defRPr sz="3600" b="0">
                <a:solidFill>
                  <a:srgbClr val="F5F0E0"/>
                </a:solidFill>
                <a:latin typeface="Calibri"/>
              </a:defRPr>
            </a:pPr>
            <a:r>
              <a:t>Game Night</a:t>
            </a:r>
          </a:p>
          <a:p>
            <a:pPr algn="ctr">
              <a:spcAft>
                <a:spcPts val="1200"/>
              </a:spcAft>
              <a:defRPr sz="2200" b="0">
                <a:solidFill>
                  <a:srgbClr val="999999"/>
                </a:solidFill>
                <a:latin typeface="Calibri"/>
              </a:defRPr>
            </a:pPr>
            <a:r>
              <a:t>34 Players  |  2 Houses  |  1 Winner</a:t>
            </a:r>
          </a:p>
          <a:p>
            <a:pPr algn="ctr">
              <a:spcAft>
                <a:spcPts val="800"/>
              </a:spcAft>
              <a:defRPr sz="2800" b="1">
                <a:solidFill>
                  <a:srgbClr val="8B0000"/>
                </a:solidFill>
                <a:latin typeface="Calibri"/>
              </a:defRPr>
            </a:pPr>
            <a:r>
              <a:t>Trust No One.</a:t>
            </a:r>
          </a:p>
        </p:txBody>
      </p:sp>
      <p:sp>
        <p:nvSpPr>
          <p:cNvPr id="8" name="Rectangle 7"/>
          <p:cNvSpPr/>
          <p:nvPr/>
        </p:nvSpPr>
        <p:spPr>
          <a:xfrm>
            <a:off x="0" y="0"/>
            <a:ext cx="12191695" cy="54864"/>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803136"/>
            <a:ext cx="12191695" cy="54864"/>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814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13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54535" y="0"/>
            <a:ext cx="137160" cy="6858000"/>
          </a:xfrm>
          <a:prstGeom prst="rect">
            <a:avLst/>
          </a:prstGeom>
          <a:solidFill>
            <a:srgbClr val="013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54864"/>
          </a:xfrm>
          <a:prstGeom prst="rect">
            <a:avLst/>
          </a:prstGeom>
          <a:solidFill>
            <a:srgbClr val="013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3136"/>
            <a:ext cx="12191695" cy="54864"/>
          </a:xfrm>
          <a:prstGeom prst="rect">
            <a:avLst/>
          </a:prstGeom>
          <a:solidFill>
            <a:srgbClr val="013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6647" y="914400"/>
            <a:ext cx="10058400" cy="914400"/>
          </a:xfrm>
          <a:prstGeom prst="rect">
            <a:avLst/>
          </a:prstGeom>
          <a:noFill/>
        </p:spPr>
        <p:txBody>
          <a:bodyPr wrap="square"/>
          <a:lstStyle/>
          <a:p>
            <a:pPr algn="ctr">
              <a:lnSpc>
                <a:spcPct val="130000"/>
              </a:lnSpc>
              <a:spcAft>
                <a:spcPts val="600"/>
              </a:spcAft>
              <a:defRPr sz="5600" b="1">
                <a:solidFill>
                  <a:srgbClr val="DAA520"/>
                </a:solidFill>
                <a:latin typeface="Calibri"/>
              </a:defRPr>
            </a:pPr>
            <a:r>
              <a:t>Welcome to the Castle</a:t>
            </a:r>
          </a:p>
        </p:txBody>
      </p:sp>
      <p:sp>
        <p:nvSpPr>
          <p:cNvPr id="8" name="Rectangle 7"/>
          <p:cNvSpPr/>
          <p:nvPr/>
        </p:nvSpPr>
        <p:spPr>
          <a:xfrm>
            <a:off x="4267047" y="1691640"/>
            <a:ext cx="3657600" cy="27432"/>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81047" y="2103120"/>
            <a:ext cx="8229600" cy="4114800"/>
          </a:xfrm>
          <a:prstGeom prst="rect">
            <a:avLst/>
          </a:prstGeom>
          <a:noFill/>
        </p:spPr>
        <p:txBody>
          <a:bodyPr wrap="square"/>
          <a:lstStyle/>
          <a:p>
            <a:pPr algn="ctr">
              <a:lnSpc>
                <a:spcPct val="140000"/>
              </a:lnSpc>
              <a:spcAft>
                <a:spcPts val="2400"/>
              </a:spcAft>
              <a:defRPr sz="2800" b="0">
                <a:solidFill>
                  <a:srgbClr val="F5F0E0"/>
                </a:solidFill>
                <a:latin typeface="Calibri"/>
              </a:defRPr>
            </a:pPr>
            <a:r>
              <a:t>Behind these walls, alliances will form and shatter.</a:t>
            </a:r>
          </a:p>
          <a:p>
            <a:pPr algn="ctr">
              <a:lnSpc>
                <a:spcPct val="140000"/>
              </a:lnSpc>
              <a:spcAft>
                <a:spcPts val="2400"/>
              </a:spcAft>
              <a:defRPr sz="2800" b="0">
                <a:solidFill>
                  <a:srgbClr val="F5F0E0"/>
                </a:solidFill>
                <a:latin typeface="Calibri"/>
              </a:defRPr>
            </a:pPr>
            <a:r>
              <a:t>Trust will be weaponised.</a:t>
            </a:r>
          </a:p>
          <a:p>
            <a:pPr algn="ctr">
              <a:lnSpc>
                <a:spcPct val="140000"/>
              </a:lnSpc>
              <a:spcAft>
                <a:spcPts val="3600"/>
              </a:spcAft>
              <a:defRPr sz="2800" b="0">
                <a:solidFill>
                  <a:srgbClr val="F5F0E0"/>
                </a:solidFill>
                <a:latin typeface="Calibri"/>
              </a:defRPr>
            </a:pPr>
            <a:r>
              <a:t>Secrets will be kept -- and exposed.</a:t>
            </a:r>
          </a:p>
          <a:p>
            <a:pPr algn="ctr">
              <a:spcAft>
                <a:spcPts val="1600"/>
              </a:spcAft>
              <a:defRPr sz="3200" b="1">
                <a:solidFill>
                  <a:srgbClr val="8B0000"/>
                </a:solidFill>
                <a:latin typeface="Calibri"/>
              </a:defRPr>
            </a:pPr>
            <a:r>
              <a:t>Among you walk Traitors.</a:t>
            </a:r>
          </a:p>
          <a:p>
            <a:pPr algn="ctr">
              <a:spcAft>
                <a:spcPts val="2400"/>
              </a:spcAft>
              <a:defRPr sz="2400" b="0">
                <a:solidFill>
                  <a:srgbClr val="999999"/>
                </a:solidFill>
                <a:latin typeface="Calibri"/>
              </a:defRPr>
            </a:pPr>
            <a:r>
              <a:t>They look like you. They talk like you. They sit beside you.</a:t>
            </a:r>
          </a:p>
          <a:p>
            <a:pPr algn="ctr">
              <a:spcAft>
                <a:spcPts val="800"/>
              </a:spcAft>
              <a:defRPr sz="2800" b="1">
                <a:solidFill>
                  <a:srgbClr val="AA0000"/>
                </a:solidFill>
                <a:latin typeface="Calibri"/>
              </a:defRPr>
            </a:pPr>
            <a:r>
              <a:t>But they want you gone.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54535"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84848"/>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647" y="365760"/>
            <a:ext cx="10058400" cy="914400"/>
          </a:xfrm>
          <a:prstGeom prst="rect">
            <a:avLst/>
          </a:prstGeom>
          <a:noFill/>
        </p:spPr>
        <p:txBody>
          <a:bodyPr wrap="square"/>
          <a:lstStyle/>
          <a:p>
            <a:pPr algn="ctr">
              <a:lnSpc>
                <a:spcPct val="130000"/>
              </a:lnSpc>
              <a:spcAft>
                <a:spcPts val="600"/>
              </a:spcAft>
              <a:defRPr sz="4000" b="1">
                <a:solidFill>
                  <a:srgbClr val="DAA520"/>
                </a:solidFill>
                <a:latin typeface="Calibri"/>
              </a:defRPr>
            </a:pPr>
            <a:r>
              <a:t>The Game</a:t>
            </a:r>
          </a:p>
        </p:txBody>
      </p:sp>
      <p:sp>
        <p:nvSpPr>
          <p:cNvPr id="7" name="Rectangle 6"/>
          <p:cNvSpPr/>
          <p:nvPr/>
        </p:nvSpPr>
        <p:spPr>
          <a:xfrm>
            <a:off x="3352647" y="1051560"/>
            <a:ext cx="54864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463040"/>
            <a:ext cx="9448495" cy="5029200"/>
          </a:xfrm>
          <a:prstGeom prst="rect">
            <a:avLst/>
          </a:prstGeom>
          <a:noFill/>
        </p:spPr>
        <p:txBody>
          <a:bodyPr wrap="square"/>
          <a:lstStyle/>
          <a:p>
            <a:pPr algn="ctr">
              <a:spcAft>
                <a:spcPts val="2800"/>
              </a:spcAft>
              <a:defRPr sz="3000" b="1">
                <a:solidFill>
                  <a:srgbClr val="F5F0E0"/>
                </a:solidFill>
                <a:latin typeface="Calibri"/>
              </a:defRPr>
            </a:pPr>
            <a:r>
              <a:t>34 players enter. Not all are who they seem.</a:t>
            </a:r>
          </a:p>
          <a:p>
            <a:pPr algn="l">
              <a:spcAft>
                <a:spcPts val="800"/>
              </a:spcAft>
              <a:defRPr sz="2800" b="0">
                <a:solidFill>
                  <a:srgbClr val="F5F0E0"/>
                </a:solidFill>
                <a:latin typeface="Calibri"/>
              </a:defRPr>
            </a:pPr>
            <a:r>
              <a:t>◆  28 of you are FAITHFUL</a:t>
            </a:r>
          </a:p>
          <a:p>
            <a:pPr algn="l">
              <a:spcAft>
                <a:spcPts val="2000"/>
              </a:spcAft>
              <a:defRPr sz="2400" b="0">
                <a:solidFill>
                  <a:srgbClr val="CCCCCC"/>
                </a:solidFill>
                <a:latin typeface="Calibri"/>
              </a:defRPr>
            </a:pPr>
            <a:r>
              <a:t>     Your goal: find and banish the Traitors.</a:t>
            </a:r>
          </a:p>
          <a:p>
            <a:pPr algn="l">
              <a:spcAft>
                <a:spcPts val="800"/>
              </a:spcAft>
              <a:defRPr sz="2800" b="1">
                <a:solidFill>
                  <a:srgbClr val="8B0000"/>
                </a:solidFill>
                <a:latin typeface="Calibri"/>
              </a:defRPr>
            </a:pPr>
            <a:r>
              <a:t>◆  6 of you are TRAITORS</a:t>
            </a:r>
          </a:p>
          <a:p>
            <a:pPr algn="l">
              <a:spcAft>
                <a:spcPts val="2800"/>
              </a:spcAft>
              <a:defRPr sz="2400" b="0">
                <a:solidFill>
                  <a:srgbClr val="CCCCCC"/>
                </a:solidFill>
                <a:latin typeface="Calibri"/>
              </a:defRPr>
            </a:pPr>
            <a:r>
              <a:t>     Your goal: eliminate the Faithful without being caught.</a:t>
            </a:r>
          </a:p>
          <a:p>
            <a:pPr algn="ctr">
              <a:spcAft>
                <a:spcPts val="400"/>
              </a:spcAft>
              <a:defRPr sz="2800" b="0">
                <a:solidFill>
                  <a:srgbClr val="F5F0E0"/>
                </a:solidFill>
                <a:latin typeface="Calibri"/>
              </a:defRPr>
            </a:pPr>
            <a:r>
              <a:t>Through challenges, debates, votes, and secret night-time</a:t>
            </a:r>
          </a:p>
          <a:p>
            <a:pPr algn="ctr">
              <a:spcAft>
                <a:spcPts val="2800"/>
              </a:spcAft>
              <a:defRPr sz="2800" b="0">
                <a:solidFill>
                  <a:srgbClr val="F5F0E0"/>
                </a:solidFill>
                <a:latin typeface="Calibri"/>
              </a:defRPr>
            </a:pPr>
            <a:r>
              <a:t>murders, the game narrows from 34 down to a Final Circle.</a:t>
            </a:r>
          </a:p>
          <a:p>
            <a:pPr algn="ctr">
              <a:spcAft>
                <a:spcPts val="800"/>
              </a:spcAft>
              <a:defRPr sz="2600" b="1">
                <a:solidFill>
                  <a:srgbClr val="DAA520"/>
                </a:solidFill>
                <a:latin typeface="Calibri"/>
              </a:defRPr>
            </a:pPr>
            <a:r>
              <a:t>If all Traitors are banished, the Faithful win.</a:t>
            </a:r>
          </a:p>
          <a:p>
            <a:pPr algn="ctr">
              <a:spcAft>
                <a:spcPts val="800"/>
              </a:spcAft>
              <a:defRPr sz="2600" b="1">
                <a:solidFill>
                  <a:srgbClr val="AA0000"/>
                </a:solidFill>
                <a:latin typeface="Calibri"/>
              </a:defRPr>
            </a:pPr>
            <a:r>
              <a:t>If Traitors survive to the end, they win.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54535"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84848"/>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647" y="365760"/>
            <a:ext cx="10058400" cy="914400"/>
          </a:xfrm>
          <a:prstGeom prst="rect">
            <a:avLst/>
          </a:prstGeom>
          <a:noFill/>
        </p:spPr>
        <p:txBody>
          <a:bodyPr wrap="square"/>
          <a:lstStyle/>
          <a:p>
            <a:pPr algn="ctr">
              <a:lnSpc>
                <a:spcPct val="130000"/>
              </a:lnSpc>
              <a:spcAft>
                <a:spcPts val="600"/>
              </a:spcAft>
              <a:defRPr sz="4000" b="1">
                <a:solidFill>
                  <a:srgbClr val="DAA520"/>
                </a:solidFill>
                <a:latin typeface="Calibri"/>
              </a:defRPr>
            </a:pPr>
            <a:r>
              <a:t>Your Role</a:t>
            </a:r>
          </a:p>
        </p:txBody>
      </p:sp>
      <p:sp>
        <p:nvSpPr>
          <p:cNvPr id="7" name="Rectangle 6"/>
          <p:cNvSpPr/>
          <p:nvPr/>
        </p:nvSpPr>
        <p:spPr>
          <a:xfrm>
            <a:off x="3352647" y="1051560"/>
            <a:ext cx="54864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463040"/>
            <a:ext cx="9448495" cy="5029200"/>
          </a:xfrm>
          <a:prstGeom prst="rect">
            <a:avLst/>
          </a:prstGeom>
          <a:noFill/>
        </p:spPr>
        <p:txBody>
          <a:bodyPr wrap="square"/>
          <a:lstStyle/>
          <a:p>
            <a:pPr algn="ctr">
              <a:spcAft>
                <a:spcPts val="2800"/>
              </a:spcAft>
              <a:defRPr sz="3000" b="1">
                <a:solidFill>
                  <a:srgbClr val="DAA520"/>
                </a:solidFill>
                <a:latin typeface="Calibri"/>
              </a:defRPr>
            </a:pPr>
            <a:r>
              <a:t>Each of you will receive a sealed envelope.</a:t>
            </a:r>
          </a:p>
          <a:p>
            <a:pPr algn="l">
              <a:spcAft>
                <a:spcPts val="1400"/>
              </a:spcAft>
              <a:defRPr sz="2800" b="0">
                <a:solidFill>
                  <a:srgbClr val="F5F0E0"/>
                </a:solidFill>
                <a:latin typeface="Calibri"/>
              </a:defRPr>
            </a:pPr>
            <a:r>
              <a:t>◆  Do NOT open it until instructed</a:t>
            </a:r>
          </a:p>
          <a:p>
            <a:pPr algn="l">
              <a:spcAft>
                <a:spcPts val="1400"/>
              </a:spcAft>
              <a:defRPr sz="2800" b="0">
                <a:solidFill>
                  <a:srgbClr val="F5F0E0"/>
                </a:solidFill>
                <a:latin typeface="Calibri"/>
              </a:defRPr>
            </a:pPr>
            <a:r>
              <a:t>◆  Open it privately -- do not show anyone</a:t>
            </a:r>
          </a:p>
          <a:p>
            <a:pPr algn="l">
              <a:spcAft>
                <a:spcPts val="1400"/>
              </a:spcAft>
              <a:defRPr sz="2800" b="0">
                <a:solidFill>
                  <a:srgbClr val="F5F0E0"/>
                </a:solidFill>
                <a:latin typeface="Calibri"/>
              </a:defRPr>
            </a:pPr>
            <a:r>
              <a:t>◆  Read your role card silently</a:t>
            </a:r>
          </a:p>
          <a:p>
            <a:pPr algn="l">
              <a:spcAft>
                <a:spcPts val="1400"/>
              </a:spcAft>
              <a:defRPr sz="2800" b="0">
                <a:solidFill>
                  <a:srgbClr val="F5F0E0"/>
                </a:solidFill>
                <a:latin typeface="Calibri"/>
              </a:defRPr>
            </a:pPr>
            <a:r>
              <a:t>◆  Seal it back in the envelope</a:t>
            </a:r>
          </a:p>
          <a:p>
            <a:pPr algn="l">
              <a:spcAft>
                <a:spcPts val="2800"/>
              </a:spcAft>
              <a:defRPr sz="2800" b="0">
                <a:solidFill>
                  <a:srgbClr val="F5F0E0"/>
                </a:solidFill>
                <a:latin typeface="Calibri"/>
              </a:defRPr>
            </a:pPr>
            <a:r>
              <a:t>◆  Return the envelope to the Host</a:t>
            </a:r>
          </a:p>
          <a:p>
            <a:pPr algn="ctr">
              <a:spcAft>
                <a:spcPts val="1400"/>
              </a:spcAft>
              <a:defRPr sz="3000" b="1">
                <a:solidFill>
                  <a:srgbClr val="8B0000"/>
                </a:solidFill>
                <a:latin typeface="Calibri"/>
              </a:defRPr>
            </a:pPr>
            <a:r>
              <a:t>Do not react. Do not gasp. Do not smile.</a:t>
            </a:r>
          </a:p>
          <a:p>
            <a:pPr algn="ctr">
              <a:spcAft>
                <a:spcPts val="800"/>
              </a:spcAft>
              <a:defRPr sz="2600" b="0">
                <a:solidFill>
                  <a:srgbClr val="999999"/>
                </a:solidFill>
                <a:latin typeface="Calibri"/>
              </a:defRPr>
            </a:pPr>
            <a:r>
              <a:t>Everyone is watching.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D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54535" y="0"/>
            <a:ext cx="137160" cy="6858000"/>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54864"/>
          </a:xfrm>
          <a:prstGeom prst="rect">
            <a:avLst/>
          </a:prstGeom>
          <a:solidFill>
            <a:srgbClr val="8B7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3136"/>
            <a:ext cx="12191695" cy="54864"/>
          </a:xfrm>
          <a:prstGeom prst="rect">
            <a:avLst/>
          </a:prstGeom>
          <a:solidFill>
            <a:srgbClr val="8B7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6647" y="365760"/>
            <a:ext cx="10058400" cy="914400"/>
          </a:xfrm>
          <a:prstGeom prst="rect">
            <a:avLst/>
          </a:prstGeom>
          <a:noFill/>
        </p:spPr>
        <p:txBody>
          <a:bodyPr wrap="square"/>
          <a:lstStyle/>
          <a:p>
            <a:pPr algn="ctr">
              <a:lnSpc>
                <a:spcPct val="130000"/>
              </a:lnSpc>
              <a:spcAft>
                <a:spcPts val="600"/>
              </a:spcAft>
              <a:defRPr sz="4000" b="1">
                <a:solidFill>
                  <a:srgbClr val="DAA520"/>
                </a:solidFill>
                <a:latin typeface="Calibri"/>
              </a:defRPr>
            </a:pPr>
            <a:r>
              <a:t>The Faithful</a:t>
            </a:r>
          </a:p>
        </p:txBody>
      </p:sp>
      <p:sp>
        <p:nvSpPr>
          <p:cNvPr id="8" name="Rectangle 7"/>
          <p:cNvSpPr/>
          <p:nvPr/>
        </p:nvSpPr>
        <p:spPr>
          <a:xfrm>
            <a:off x="4267047" y="1051560"/>
            <a:ext cx="36576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1463040"/>
            <a:ext cx="9448495" cy="5029200"/>
          </a:xfrm>
          <a:prstGeom prst="rect">
            <a:avLst/>
          </a:prstGeom>
          <a:noFill/>
        </p:spPr>
        <p:txBody>
          <a:bodyPr wrap="square"/>
          <a:lstStyle/>
          <a:p>
            <a:pPr algn="ctr">
              <a:spcAft>
                <a:spcPts val="2800"/>
              </a:spcAft>
              <a:defRPr sz="3000" b="1">
                <a:solidFill>
                  <a:srgbClr val="F0D070"/>
                </a:solidFill>
                <a:latin typeface="Calibri"/>
              </a:defRPr>
            </a:pPr>
            <a:r>
              <a:t>You are loyal. You are honest. You are hunted.</a:t>
            </a:r>
          </a:p>
          <a:p>
            <a:pPr algn="l">
              <a:spcAft>
                <a:spcPts val="1400"/>
              </a:spcAft>
              <a:defRPr sz="2600" b="1">
                <a:solidFill>
                  <a:srgbClr val="DAA520"/>
                </a:solidFill>
                <a:latin typeface="Calibri"/>
              </a:defRPr>
            </a:pPr>
            <a:r>
              <a:t>YOUR MISSION</a:t>
            </a:r>
          </a:p>
          <a:p>
            <a:pPr algn="l">
              <a:spcAft>
                <a:spcPts val="1000"/>
              </a:spcAft>
              <a:defRPr sz="2800" b="0">
                <a:solidFill>
                  <a:srgbClr val="F5F0E0"/>
                </a:solidFill>
                <a:latin typeface="Calibri"/>
              </a:defRPr>
            </a:pPr>
            <a:r>
              <a:t>◆  Identify the Traitors among you</a:t>
            </a:r>
          </a:p>
          <a:p>
            <a:pPr algn="l">
              <a:spcAft>
                <a:spcPts val="1000"/>
              </a:spcAft>
              <a:defRPr sz="2800" b="0">
                <a:solidFill>
                  <a:srgbClr val="F5F0E0"/>
                </a:solidFill>
                <a:latin typeface="Calibri"/>
              </a:defRPr>
            </a:pPr>
            <a:r>
              <a:t>◆  Vote to banish them at the Round Table</a:t>
            </a:r>
          </a:p>
          <a:p>
            <a:pPr algn="l">
              <a:spcAft>
                <a:spcPts val="2400"/>
              </a:spcAft>
              <a:defRPr sz="2800" b="0">
                <a:solidFill>
                  <a:srgbClr val="F5F0E0"/>
                </a:solidFill>
                <a:latin typeface="Calibri"/>
              </a:defRPr>
            </a:pPr>
            <a:r>
              <a:t>◆  Survive the night</a:t>
            </a:r>
          </a:p>
          <a:p>
            <a:pPr algn="l">
              <a:spcAft>
                <a:spcPts val="1400"/>
              </a:spcAft>
              <a:defRPr sz="2600" b="1">
                <a:solidFill>
                  <a:srgbClr val="DAA520"/>
                </a:solidFill>
                <a:latin typeface="Calibri"/>
              </a:defRPr>
            </a:pPr>
            <a:r>
              <a:t>YOUR TOOLS</a:t>
            </a:r>
          </a:p>
          <a:p>
            <a:pPr algn="l">
              <a:spcAft>
                <a:spcPts val="1000"/>
              </a:spcAft>
              <a:defRPr sz="2800" b="0">
                <a:solidFill>
                  <a:srgbClr val="F5F0E0"/>
                </a:solidFill>
                <a:latin typeface="Calibri"/>
              </a:defRPr>
            </a:pPr>
            <a:r>
              <a:t>◆  Your vote at every banishment</a:t>
            </a:r>
          </a:p>
          <a:p>
            <a:pPr algn="l">
              <a:spcAft>
                <a:spcPts val="1000"/>
              </a:spcAft>
              <a:defRPr sz="2800" b="0">
                <a:solidFill>
                  <a:srgbClr val="F5F0E0"/>
                </a:solidFill>
                <a:latin typeface="Calibri"/>
              </a:defRPr>
            </a:pPr>
            <a:r>
              <a:t>◆  Your powers of observation and persuasion</a:t>
            </a:r>
          </a:p>
          <a:p>
            <a:pPr algn="l">
              <a:spcAft>
                <a:spcPts val="1000"/>
              </a:spcAft>
              <a:defRPr sz="2800" b="0">
                <a:solidFill>
                  <a:srgbClr val="F5F0E0"/>
                </a:solidFill>
                <a:latin typeface="Calibri"/>
              </a:defRPr>
            </a:pPr>
            <a:r>
              <a:t>◆  Challenge victories may grant special powers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8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AA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54535" y="0"/>
            <a:ext cx="137160" cy="6858000"/>
          </a:xfrm>
          <a:prstGeom prst="rect">
            <a:avLst/>
          </a:prstGeom>
          <a:solidFill>
            <a:srgbClr val="AA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54864"/>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3136"/>
            <a:ext cx="12191695" cy="54864"/>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6647" y="365760"/>
            <a:ext cx="10058400" cy="914400"/>
          </a:xfrm>
          <a:prstGeom prst="rect">
            <a:avLst/>
          </a:prstGeom>
          <a:noFill/>
        </p:spPr>
        <p:txBody>
          <a:bodyPr wrap="square"/>
          <a:lstStyle/>
          <a:p>
            <a:pPr algn="ctr">
              <a:lnSpc>
                <a:spcPct val="130000"/>
              </a:lnSpc>
              <a:spcAft>
                <a:spcPts val="600"/>
              </a:spcAft>
              <a:defRPr sz="4000" b="1">
                <a:solidFill>
                  <a:srgbClr val="8B0000"/>
                </a:solidFill>
                <a:latin typeface="Calibri"/>
              </a:defRPr>
            </a:pPr>
            <a:r>
              <a:t>The Traitors</a:t>
            </a:r>
          </a:p>
        </p:txBody>
      </p:sp>
      <p:sp>
        <p:nvSpPr>
          <p:cNvPr id="8" name="Rectangle 7"/>
          <p:cNvSpPr/>
          <p:nvPr/>
        </p:nvSpPr>
        <p:spPr>
          <a:xfrm>
            <a:off x="4267047" y="1051560"/>
            <a:ext cx="3657600" cy="36576"/>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1463040"/>
            <a:ext cx="9448495" cy="5029200"/>
          </a:xfrm>
          <a:prstGeom prst="rect">
            <a:avLst/>
          </a:prstGeom>
          <a:noFill/>
        </p:spPr>
        <p:txBody>
          <a:bodyPr wrap="square"/>
          <a:lstStyle/>
          <a:p>
            <a:pPr algn="ctr">
              <a:spcAft>
                <a:spcPts val="2800"/>
              </a:spcAft>
              <a:defRPr sz="3200" b="1">
                <a:solidFill>
                  <a:srgbClr val="AA0000"/>
                </a:solidFill>
                <a:latin typeface="Calibri"/>
              </a:defRPr>
            </a:pPr>
            <a:r>
              <a:t>They are already among you.</a:t>
            </a:r>
          </a:p>
          <a:p>
            <a:pPr algn="ctr">
              <a:spcAft>
                <a:spcPts val="2400"/>
              </a:spcAft>
              <a:defRPr sz="2800" b="0">
                <a:solidFill>
                  <a:srgbClr val="F5F0E0"/>
                </a:solidFill>
                <a:latin typeface="Calibri"/>
              </a:defRPr>
            </a:pPr>
            <a:r>
              <a:t>6 players have been chosen to deceive.</a:t>
            </a:r>
          </a:p>
          <a:p>
            <a:pPr algn="ctr">
              <a:spcAft>
                <a:spcPts val="1000"/>
              </a:spcAft>
              <a:defRPr sz="2600" b="0">
                <a:solidFill>
                  <a:srgbClr val="CCCCCC"/>
                </a:solidFill>
                <a:latin typeface="Calibri"/>
              </a:defRPr>
            </a:pPr>
            <a:r>
              <a:t>They will participate in every challenge.</a:t>
            </a:r>
          </a:p>
          <a:p>
            <a:pPr algn="ctr">
              <a:spcAft>
                <a:spcPts val="1000"/>
              </a:spcAft>
              <a:defRPr sz="2600" b="0">
                <a:solidFill>
                  <a:srgbClr val="CCCCCC"/>
                </a:solidFill>
                <a:latin typeface="Calibri"/>
              </a:defRPr>
            </a:pPr>
            <a:r>
              <a:t>They will debate alongside you at the Round Table.</a:t>
            </a:r>
          </a:p>
          <a:p>
            <a:pPr algn="ctr">
              <a:spcAft>
                <a:spcPts val="1000"/>
              </a:spcAft>
              <a:defRPr sz="2600" b="0">
                <a:solidFill>
                  <a:srgbClr val="CCCCCC"/>
                </a:solidFill>
                <a:latin typeface="Calibri"/>
              </a:defRPr>
            </a:pPr>
            <a:r>
              <a:t>They will vote at every banishment.</a:t>
            </a:r>
          </a:p>
          <a:p>
            <a:pPr algn="ctr">
              <a:spcAft>
                <a:spcPts val="3000"/>
              </a:spcAft>
              <a:defRPr sz="2600" b="0">
                <a:solidFill>
                  <a:srgbClr val="CCCCCC"/>
                </a:solidFill>
                <a:latin typeface="Calibri"/>
              </a:defRPr>
            </a:pPr>
            <a:r>
              <a:t>They will look you in the eye and lie.</a:t>
            </a:r>
          </a:p>
          <a:p>
            <a:pPr algn="ctr">
              <a:spcAft>
                <a:spcPts val="1000"/>
              </a:spcAft>
              <a:defRPr sz="3000" b="1">
                <a:solidFill>
                  <a:srgbClr val="8B0000"/>
                </a:solidFill>
                <a:latin typeface="Calibri"/>
              </a:defRPr>
            </a:pPr>
            <a:r>
              <a:t>And when night falls...</a:t>
            </a:r>
          </a:p>
          <a:p>
            <a:pPr algn="ctr">
              <a:spcAft>
                <a:spcPts val="800"/>
              </a:spcAft>
              <a:defRPr sz="3000" b="1">
                <a:solidFill>
                  <a:srgbClr val="AA0000"/>
                </a:solidFill>
                <a:latin typeface="Calibri"/>
              </a:defRPr>
            </a:pPr>
            <a:r>
              <a:t>someone will not return.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54535"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84848"/>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647" y="274320"/>
            <a:ext cx="10058400" cy="914400"/>
          </a:xfrm>
          <a:prstGeom prst="rect">
            <a:avLst/>
          </a:prstGeom>
          <a:noFill/>
        </p:spPr>
        <p:txBody>
          <a:bodyPr wrap="square"/>
          <a:lstStyle/>
          <a:p>
            <a:pPr algn="ctr">
              <a:lnSpc>
                <a:spcPct val="130000"/>
              </a:lnSpc>
              <a:spcAft>
                <a:spcPts val="600"/>
              </a:spcAft>
              <a:defRPr sz="4000" b="1">
                <a:solidFill>
                  <a:srgbClr val="DAA520"/>
                </a:solidFill>
                <a:latin typeface="Calibri"/>
              </a:defRPr>
            </a:pPr>
            <a:r>
              <a:t>The Houses</a:t>
            </a:r>
          </a:p>
        </p:txBody>
      </p:sp>
      <p:sp>
        <p:nvSpPr>
          <p:cNvPr id="7" name="Rectangle 6"/>
          <p:cNvSpPr/>
          <p:nvPr/>
        </p:nvSpPr>
        <p:spPr>
          <a:xfrm>
            <a:off x="4267047" y="960120"/>
            <a:ext cx="36576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3847" y="1188720"/>
            <a:ext cx="9144000" cy="731520"/>
          </a:xfrm>
          <a:prstGeom prst="rect">
            <a:avLst/>
          </a:prstGeom>
          <a:noFill/>
        </p:spPr>
        <p:txBody>
          <a:bodyPr wrap="square"/>
          <a:lstStyle/>
          <a:p>
            <a:pPr algn="ctr">
              <a:lnSpc>
                <a:spcPct val="130000"/>
              </a:lnSpc>
              <a:spcAft>
                <a:spcPts val="600"/>
              </a:spcAft>
              <a:defRPr sz="2800" b="0">
                <a:solidFill>
                  <a:srgbClr val="F5F0E0"/>
                </a:solidFill>
                <a:latin typeface="Calibri"/>
              </a:defRPr>
            </a:pPr>
            <a:r>
              <a:t>You will be divided into two rival houses of 17.</a:t>
            </a:r>
          </a:p>
        </p:txBody>
      </p:sp>
      <p:sp>
        <p:nvSpPr>
          <p:cNvPr id="9" name="Rectangle 8"/>
          <p:cNvSpPr/>
          <p:nvPr/>
        </p:nvSpPr>
        <p:spPr>
          <a:xfrm>
            <a:off x="1523847" y="2194560"/>
            <a:ext cx="4114800" cy="3200400"/>
          </a:xfrm>
          <a:prstGeom prst="rect">
            <a:avLst/>
          </a:prstGeom>
          <a:solidFill>
            <a:srgbClr val="1A0A0A"/>
          </a:solidFill>
          <a:ln w="2540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98167" y="2377440"/>
            <a:ext cx="3566160" cy="2834640"/>
          </a:xfrm>
          <a:prstGeom prst="rect">
            <a:avLst/>
          </a:prstGeom>
          <a:noFill/>
        </p:spPr>
        <p:txBody>
          <a:bodyPr wrap="square"/>
          <a:lstStyle/>
          <a:p>
            <a:pPr algn="ctr">
              <a:spcAft>
                <a:spcPts val="1600"/>
              </a:spcAft>
              <a:defRPr sz="3600" b="1">
                <a:solidFill>
                  <a:srgbClr val="8B0000"/>
                </a:solidFill>
                <a:latin typeface="Calibri"/>
              </a:defRPr>
            </a:pPr>
            <a:r>
              <a:t>HOUSE A</a:t>
            </a:r>
          </a:p>
          <a:p>
            <a:pPr algn="ctr">
              <a:spcAft>
                <a:spcPts val="800"/>
              </a:spcAft>
              <a:defRPr sz="2600" b="0">
                <a:solidFill>
                  <a:srgbClr val="F5F0E0"/>
                </a:solidFill>
                <a:latin typeface="Calibri"/>
              </a:defRPr>
            </a:pPr>
            <a:r>
              <a:t>17 Players</a:t>
            </a:r>
          </a:p>
          <a:p>
            <a:pPr algn="ctr">
              <a:spcAft>
                <a:spcPts val="1600"/>
              </a:spcAft>
              <a:defRPr sz="2200" b="0">
                <a:solidFill>
                  <a:srgbClr val="999999"/>
                </a:solidFill>
                <a:latin typeface="Calibri"/>
              </a:defRPr>
            </a:pPr>
            <a:r>
              <a:t>3 Traitors hidden within</a:t>
            </a:r>
          </a:p>
          <a:p>
            <a:pPr algn="ctr">
              <a:spcAft>
                <a:spcPts val="800"/>
              </a:spcAft>
              <a:defRPr sz="2000" b="0">
                <a:solidFill>
                  <a:srgbClr val="CCCCCC"/>
                </a:solidFill>
                <a:latin typeface="Calibri"/>
              </a:defRPr>
            </a:pPr>
            <a:r>
              <a:t>Traitors in House A know</a:t>
            </a:r>
            <a:br/>
            <a:r>
              <a:t>only each other.</a:t>
            </a:r>
          </a:p>
        </p:txBody>
      </p:sp>
      <p:sp>
        <p:nvSpPr>
          <p:cNvPr id="11" name="Rectangle 10"/>
          <p:cNvSpPr/>
          <p:nvPr/>
        </p:nvSpPr>
        <p:spPr>
          <a:xfrm>
            <a:off x="6553047" y="2194560"/>
            <a:ext cx="4114800" cy="3200400"/>
          </a:xfrm>
          <a:prstGeom prst="rect">
            <a:avLst/>
          </a:prstGeom>
          <a:solidFill>
            <a:srgbClr val="0A140E"/>
          </a:solidFill>
          <a:ln w="25400">
            <a:solidFill>
              <a:srgbClr val="013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27367" y="2377440"/>
            <a:ext cx="3566160" cy="2834640"/>
          </a:xfrm>
          <a:prstGeom prst="rect">
            <a:avLst/>
          </a:prstGeom>
          <a:noFill/>
        </p:spPr>
        <p:txBody>
          <a:bodyPr wrap="square"/>
          <a:lstStyle/>
          <a:p>
            <a:pPr algn="ctr">
              <a:spcAft>
                <a:spcPts val="1600"/>
              </a:spcAft>
              <a:defRPr sz="3600" b="1">
                <a:solidFill>
                  <a:srgbClr val="024A30"/>
                </a:solidFill>
                <a:latin typeface="Calibri"/>
              </a:defRPr>
            </a:pPr>
            <a:r>
              <a:t>HOUSE B</a:t>
            </a:r>
          </a:p>
          <a:p>
            <a:pPr algn="ctr">
              <a:spcAft>
                <a:spcPts val="800"/>
              </a:spcAft>
              <a:defRPr sz="2600" b="0">
                <a:solidFill>
                  <a:srgbClr val="F5F0E0"/>
                </a:solidFill>
                <a:latin typeface="Calibri"/>
              </a:defRPr>
            </a:pPr>
            <a:r>
              <a:t>17 Players</a:t>
            </a:r>
          </a:p>
          <a:p>
            <a:pPr algn="ctr">
              <a:spcAft>
                <a:spcPts val="1600"/>
              </a:spcAft>
              <a:defRPr sz="2200" b="0">
                <a:solidFill>
                  <a:srgbClr val="999999"/>
                </a:solidFill>
                <a:latin typeface="Calibri"/>
              </a:defRPr>
            </a:pPr>
            <a:r>
              <a:t>3 Traitors hidden within</a:t>
            </a:r>
          </a:p>
          <a:p>
            <a:pPr algn="ctr">
              <a:spcAft>
                <a:spcPts val="800"/>
              </a:spcAft>
              <a:defRPr sz="2000" b="0">
                <a:solidFill>
                  <a:srgbClr val="CCCCCC"/>
                </a:solidFill>
                <a:latin typeface="Calibri"/>
              </a:defRPr>
            </a:pPr>
            <a:r>
              <a:t>Traitors in House B know</a:t>
            </a:r>
            <a:br/>
            <a:r>
              <a:t>only each other.</a:t>
            </a:r>
          </a:p>
        </p:txBody>
      </p:sp>
      <p:sp>
        <p:nvSpPr>
          <p:cNvPr id="13" name="TextBox 12"/>
          <p:cNvSpPr txBox="1"/>
          <p:nvPr/>
        </p:nvSpPr>
        <p:spPr>
          <a:xfrm>
            <a:off x="1523847" y="5669280"/>
            <a:ext cx="9144000" cy="731520"/>
          </a:xfrm>
          <a:prstGeom prst="rect">
            <a:avLst/>
          </a:prstGeom>
          <a:noFill/>
        </p:spPr>
        <p:txBody>
          <a:bodyPr wrap="square"/>
          <a:lstStyle/>
          <a:p>
            <a:pPr algn="ctr">
              <a:lnSpc>
                <a:spcPct val="130000"/>
              </a:lnSpc>
              <a:spcAft>
                <a:spcPts val="600"/>
              </a:spcAft>
              <a:defRPr sz="2600" b="1">
                <a:solidFill>
                  <a:srgbClr val="DAA520"/>
                </a:solidFill>
                <a:latin typeface="Calibri"/>
              </a:defRPr>
            </a:pPr>
            <a:r>
              <a:t>The houses will merge when 22 players remain.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54535"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84848"/>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647" y="365760"/>
            <a:ext cx="10058400" cy="914400"/>
          </a:xfrm>
          <a:prstGeom prst="rect">
            <a:avLst/>
          </a:prstGeom>
          <a:noFill/>
        </p:spPr>
        <p:txBody>
          <a:bodyPr wrap="square"/>
          <a:lstStyle/>
          <a:p>
            <a:pPr algn="ctr">
              <a:lnSpc>
                <a:spcPct val="130000"/>
              </a:lnSpc>
              <a:spcAft>
                <a:spcPts val="600"/>
              </a:spcAft>
              <a:defRPr sz="4000" b="1">
                <a:solidFill>
                  <a:srgbClr val="DAA520"/>
                </a:solidFill>
                <a:latin typeface="Calibri"/>
              </a:defRPr>
            </a:pPr>
            <a:r>
              <a:t>Phase 1: The Houses</a:t>
            </a:r>
          </a:p>
        </p:txBody>
      </p:sp>
      <p:sp>
        <p:nvSpPr>
          <p:cNvPr id="7" name="Rectangle 6"/>
          <p:cNvSpPr/>
          <p:nvPr/>
        </p:nvSpPr>
        <p:spPr>
          <a:xfrm>
            <a:off x="3352647" y="1051560"/>
            <a:ext cx="54864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371600"/>
            <a:ext cx="9448495" cy="1097280"/>
          </a:xfrm>
          <a:prstGeom prst="rect">
            <a:avLst/>
          </a:prstGeom>
          <a:noFill/>
        </p:spPr>
        <p:txBody>
          <a:bodyPr wrap="square"/>
          <a:lstStyle/>
          <a:p>
            <a:pPr algn="ctr">
              <a:spcAft>
                <a:spcPts val="1400"/>
              </a:spcAft>
              <a:defRPr sz="2600" b="1">
                <a:solidFill>
                  <a:srgbClr val="DAA520"/>
                </a:solidFill>
                <a:latin typeface="Calibri"/>
              </a:defRPr>
            </a:pPr>
            <a:r>
              <a:t>3 rotations per house  |  34 players down to 22</a:t>
            </a:r>
          </a:p>
          <a:p>
            <a:pPr algn="ctr">
              <a:spcAft>
                <a:spcPts val="800"/>
              </a:spcAft>
              <a:defRPr sz="2400" b="0">
                <a:solidFill>
                  <a:srgbClr val="F5F0E0"/>
                </a:solidFill>
                <a:latin typeface="Calibri"/>
              </a:defRPr>
            </a:pPr>
            <a:r>
              <a:t>Each rotation follows the same deadly cycle:</a:t>
            </a:r>
          </a:p>
        </p:txBody>
      </p:sp>
      <p:sp>
        <p:nvSpPr>
          <p:cNvPr id="9" name="Rectangle 8"/>
          <p:cNvSpPr/>
          <p:nvPr/>
        </p:nvSpPr>
        <p:spPr>
          <a:xfrm>
            <a:off x="1112367" y="2834640"/>
            <a:ext cx="2286000" cy="2743200"/>
          </a:xfrm>
          <a:prstGeom prst="rect">
            <a:avLst/>
          </a:prstGeom>
          <a:solidFill>
            <a:srgbClr val="181818"/>
          </a:solidFill>
          <a:ln w="2540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12367" y="2834640"/>
            <a:ext cx="2286000" cy="4572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3807" y="2880360"/>
            <a:ext cx="2103120" cy="411480"/>
          </a:xfrm>
          <a:prstGeom prst="rect">
            <a:avLst/>
          </a:prstGeom>
          <a:noFill/>
        </p:spPr>
        <p:txBody>
          <a:bodyPr wrap="square"/>
          <a:lstStyle/>
          <a:p>
            <a:pPr algn="ctr">
              <a:lnSpc>
                <a:spcPct val="130000"/>
              </a:lnSpc>
              <a:spcAft>
                <a:spcPts val="600"/>
              </a:spcAft>
              <a:defRPr sz="1600" b="1">
                <a:solidFill>
                  <a:srgbClr val="FFFFFF"/>
                </a:solidFill>
                <a:latin typeface="Calibri"/>
              </a:defRPr>
            </a:pPr>
            <a:r>
              <a:t>THE CHALLENGE</a:t>
            </a:r>
          </a:p>
        </p:txBody>
      </p:sp>
      <p:sp>
        <p:nvSpPr>
          <p:cNvPr id="12" name="TextBox 11"/>
          <p:cNvSpPr txBox="1"/>
          <p:nvPr/>
        </p:nvSpPr>
        <p:spPr>
          <a:xfrm>
            <a:off x="1295247" y="3474720"/>
            <a:ext cx="1920240" cy="1828800"/>
          </a:xfrm>
          <a:prstGeom prst="rect">
            <a:avLst/>
          </a:prstGeom>
          <a:noFill/>
        </p:spPr>
        <p:txBody>
          <a:bodyPr wrap="square"/>
          <a:lstStyle/>
          <a:p>
            <a:pPr algn="ctr">
              <a:spcAft>
                <a:spcPts val="1200"/>
              </a:spcAft>
              <a:defRPr sz="2800" b="1">
                <a:solidFill>
                  <a:srgbClr val="8B0000"/>
                </a:solidFill>
                <a:latin typeface="Calibri"/>
              </a:defRPr>
            </a:pPr>
            <a:r>
              <a:t>5 MIN</a:t>
            </a:r>
          </a:p>
          <a:p>
            <a:pPr algn="ctr">
              <a:spcAft>
                <a:spcPts val="800"/>
              </a:spcAft>
              <a:defRPr sz="1800" b="0">
                <a:solidFill>
                  <a:srgbClr val="CCCCCC"/>
                </a:solidFill>
                <a:latin typeface="Calibri"/>
              </a:defRPr>
            </a:pPr>
            <a:r>
              <a:t>Compete.</a:t>
            </a:r>
            <a:br/>
            <a:r>
              <a:t>Prove yourself.</a:t>
            </a:r>
          </a:p>
        </p:txBody>
      </p:sp>
      <p:sp>
        <p:nvSpPr>
          <p:cNvPr id="13" name="Rectangle 12"/>
          <p:cNvSpPr/>
          <p:nvPr/>
        </p:nvSpPr>
        <p:spPr>
          <a:xfrm>
            <a:off x="3672687" y="2834640"/>
            <a:ext cx="2286000" cy="2743200"/>
          </a:xfrm>
          <a:prstGeom prst="rect">
            <a:avLst/>
          </a:prstGeom>
          <a:solidFill>
            <a:srgbClr val="181818"/>
          </a:solidFill>
          <a:ln w="25400">
            <a:solidFill>
              <a:srgbClr val="013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72687" y="2834640"/>
            <a:ext cx="2286000" cy="457200"/>
          </a:xfrm>
          <a:prstGeom prst="rect">
            <a:avLst/>
          </a:prstGeom>
          <a:solidFill>
            <a:srgbClr val="013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4127" y="2880360"/>
            <a:ext cx="2103120" cy="411480"/>
          </a:xfrm>
          <a:prstGeom prst="rect">
            <a:avLst/>
          </a:prstGeom>
          <a:noFill/>
        </p:spPr>
        <p:txBody>
          <a:bodyPr wrap="square"/>
          <a:lstStyle/>
          <a:p>
            <a:pPr algn="ctr">
              <a:lnSpc>
                <a:spcPct val="130000"/>
              </a:lnSpc>
              <a:spcAft>
                <a:spcPts val="600"/>
              </a:spcAft>
              <a:defRPr sz="1600" b="1">
                <a:solidFill>
                  <a:srgbClr val="FFFFFF"/>
                </a:solidFill>
                <a:latin typeface="Calibri"/>
              </a:defRPr>
            </a:pPr>
            <a:r>
              <a:t>THE DEBATE</a:t>
            </a:r>
          </a:p>
        </p:txBody>
      </p:sp>
      <p:sp>
        <p:nvSpPr>
          <p:cNvPr id="16" name="TextBox 15"/>
          <p:cNvSpPr txBox="1"/>
          <p:nvPr/>
        </p:nvSpPr>
        <p:spPr>
          <a:xfrm>
            <a:off x="3855567" y="3474720"/>
            <a:ext cx="1920240" cy="1828800"/>
          </a:xfrm>
          <a:prstGeom prst="rect">
            <a:avLst/>
          </a:prstGeom>
          <a:noFill/>
        </p:spPr>
        <p:txBody>
          <a:bodyPr wrap="square"/>
          <a:lstStyle/>
          <a:p>
            <a:pPr algn="ctr">
              <a:spcAft>
                <a:spcPts val="1200"/>
              </a:spcAft>
              <a:defRPr sz="2800" b="1">
                <a:solidFill>
                  <a:srgbClr val="013220"/>
                </a:solidFill>
                <a:latin typeface="Calibri"/>
              </a:defRPr>
            </a:pPr>
            <a:r>
              <a:t>10 MIN</a:t>
            </a:r>
          </a:p>
          <a:p>
            <a:pPr algn="ctr">
              <a:spcAft>
                <a:spcPts val="800"/>
              </a:spcAft>
              <a:defRPr sz="1800" b="0">
                <a:solidFill>
                  <a:srgbClr val="CCCCCC"/>
                </a:solidFill>
                <a:latin typeface="Calibri"/>
              </a:defRPr>
            </a:pPr>
            <a:r>
              <a:t>Accuse. Defend.</a:t>
            </a:r>
            <a:br/>
            <a:r>
              <a:t>Persuade.</a:t>
            </a:r>
          </a:p>
        </p:txBody>
      </p:sp>
      <p:sp>
        <p:nvSpPr>
          <p:cNvPr id="17" name="Rectangle 16"/>
          <p:cNvSpPr/>
          <p:nvPr/>
        </p:nvSpPr>
        <p:spPr>
          <a:xfrm>
            <a:off x="6233007" y="2834640"/>
            <a:ext cx="2286000" cy="2743200"/>
          </a:xfrm>
          <a:prstGeom prst="rect">
            <a:avLst/>
          </a:prstGeom>
          <a:solidFill>
            <a:srgbClr val="181818"/>
          </a:solidFill>
          <a:ln w="254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3007" y="2834640"/>
            <a:ext cx="2286000" cy="457200"/>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4447" y="2880360"/>
            <a:ext cx="2103120" cy="411480"/>
          </a:xfrm>
          <a:prstGeom prst="rect">
            <a:avLst/>
          </a:prstGeom>
          <a:noFill/>
        </p:spPr>
        <p:txBody>
          <a:bodyPr wrap="square"/>
          <a:lstStyle/>
          <a:p>
            <a:pPr algn="ctr">
              <a:lnSpc>
                <a:spcPct val="130000"/>
              </a:lnSpc>
              <a:spcAft>
                <a:spcPts val="600"/>
              </a:spcAft>
              <a:defRPr sz="1600" b="1">
                <a:solidFill>
                  <a:srgbClr val="0D0D0D"/>
                </a:solidFill>
                <a:latin typeface="Calibri"/>
              </a:defRPr>
            </a:pPr>
            <a:r>
              <a:t>THE VOTE</a:t>
            </a:r>
          </a:p>
        </p:txBody>
      </p:sp>
      <p:sp>
        <p:nvSpPr>
          <p:cNvPr id="20" name="TextBox 19"/>
          <p:cNvSpPr txBox="1"/>
          <p:nvPr/>
        </p:nvSpPr>
        <p:spPr>
          <a:xfrm>
            <a:off x="6415887" y="3474720"/>
            <a:ext cx="1920240" cy="1828800"/>
          </a:xfrm>
          <a:prstGeom prst="rect">
            <a:avLst/>
          </a:prstGeom>
          <a:noFill/>
        </p:spPr>
        <p:txBody>
          <a:bodyPr wrap="square"/>
          <a:lstStyle/>
          <a:p>
            <a:pPr algn="ctr">
              <a:spcAft>
                <a:spcPts val="1200"/>
              </a:spcAft>
              <a:defRPr sz="2800" b="1">
                <a:solidFill>
                  <a:srgbClr val="DAA520"/>
                </a:solidFill>
                <a:latin typeface="Calibri"/>
              </a:defRPr>
            </a:pPr>
            <a:r>
              <a:t>5 MIN</a:t>
            </a:r>
          </a:p>
          <a:p>
            <a:pPr algn="ctr">
              <a:spcAft>
                <a:spcPts val="800"/>
              </a:spcAft>
              <a:defRPr sz="1800" b="0">
                <a:solidFill>
                  <a:srgbClr val="CCCCCC"/>
                </a:solidFill>
                <a:latin typeface="Calibri"/>
              </a:defRPr>
            </a:pPr>
            <a:r>
              <a:t>Banish one</a:t>
            </a:r>
            <a:br/>
            <a:r>
              <a:t>player.</a:t>
            </a:r>
          </a:p>
        </p:txBody>
      </p:sp>
      <p:sp>
        <p:nvSpPr>
          <p:cNvPr id="21" name="Rectangle 20"/>
          <p:cNvSpPr/>
          <p:nvPr/>
        </p:nvSpPr>
        <p:spPr>
          <a:xfrm>
            <a:off x="8793327" y="2834640"/>
            <a:ext cx="2286000" cy="2743200"/>
          </a:xfrm>
          <a:prstGeom prst="rect">
            <a:avLst/>
          </a:prstGeom>
          <a:solidFill>
            <a:srgbClr val="181818"/>
          </a:solidFill>
          <a:ln w="25400">
            <a:solidFill>
              <a:srgbClr val="440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793327" y="2834640"/>
            <a:ext cx="2286000" cy="457200"/>
          </a:xfrm>
          <a:prstGeom prst="rect">
            <a:avLst/>
          </a:prstGeom>
          <a:solidFill>
            <a:srgbClr val="440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84767" y="2880360"/>
            <a:ext cx="2103120" cy="411480"/>
          </a:xfrm>
          <a:prstGeom prst="rect">
            <a:avLst/>
          </a:prstGeom>
          <a:noFill/>
        </p:spPr>
        <p:txBody>
          <a:bodyPr wrap="square"/>
          <a:lstStyle/>
          <a:p>
            <a:pPr algn="ctr">
              <a:lnSpc>
                <a:spcPct val="130000"/>
              </a:lnSpc>
              <a:spcAft>
                <a:spcPts val="600"/>
              </a:spcAft>
              <a:defRPr sz="1600" b="1">
                <a:solidFill>
                  <a:srgbClr val="FFFFFF"/>
                </a:solidFill>
                <a:latin typeface="Calibri"/>
              </a:defRPr>
            </a:pPr>
            <a:r>
              <a:t>THE NIGHT</a:t>
            </a:r>
          </a:p>
        </p:txBody>
      </p:sp>
      <p:sp>
        <p:nvSpPr>
          <p:cNvPr id="24" name="TextBox 23"/>
          <p:cNvSpPr txBox="1"/>
          <p:nvPr/>
        </p:nvSpPr>
        <p:spPr>
          <a:xfrm>
            <a:off x="8976207" y="3474720"/>
            <a:ext cx="1920240" cy="1828800"/>
          </a:xfrm>
          <a:prstGeom prst="rect">
            <a:avLst/>
          </a:prstGeom>
          <a:noFill/>
        </p:spPr>
        <p:txBody>
          <a:bodyPr wrap="square"/>
          <a:lstStyle/>
          <a:p>
            <a:pPr algn="ctr">
              <a:spcAft>
                <a:spcPts val="1200"/>
              </a:spcAft>
              <a:defRPr sz="2800" b="1">
                <a:solidFill>
                  <a:srgbClr val="440044"/>
                </a:solidFill>
                <a:latin typeface="Calibri"/>
              </a:defRPr>
            </a:pPr>
            <a:r>
              <a:t>2 MIN</a:t>
            </a:r>
          </a:p>
          <a:p>
            <a:pPr algn="ctr">
              <a:spcAft>
                <a:spcPts val="800"/>
              </a:spcAft>
              <a:defRPr sz="1800" b="0">
                <a:solidFill>
                  <a:srgbClr val="CCCCCC"/>
                </a:solidFill>
                <a:latin typeface="Calibri"/>
              </a:defRPr>
            </a:pPr>
            <a:r>
              <a:t>Someone is</a:t>
            </a:r>
            <a:br/>
            <a:r>
              <a:t>murdered.</a:t>
            </a:r>
          </a:p>
        </p:txBody>
      </p:sp>
      <p:sp>
        <p:nvSpPr>
          <p:cNvPr id="25" name="TextBox 24"/>
          <p:cNvSpPr txBox="1"/>
          <p:nvPr/>
        </p:nvSpPr>
        <p:spPr>
          <a:xfrm>
            <a:off x="1523847" y="5760720"/>
            <a:ext cx="9144000" cy="640080"/>
          </a:xfrm>
          <a:prstGeom prst="rect">
            <a:avLst/>
          </a:prstGeom>
          <a:noFill/>
        </p:spPr>
        <p:txBody>
          <a:bodyPr wrap="square"/>
          <a:lstStyle/>
          <a:p>
            <a:pPr algn="ctr">
              <a:lnSpc>
                <a:spcPct val="130000"/>
              </a:lnSpc>
              <a:spcAft>
                <a:spcPts val="600"/>
              </a:spcAft>
              <a:defRPr sz="2200" b="0">
                <a:solidFill>
                  <a:srgbClr val="999999"/>
                </a:solidFill>
                <a:latin typeface="Calibri"/>
              </a:defRPr>
            </a:pPr>
            <a:r>
              <a:t>Each cycle removes 2 players per house (1 banished + 1 murdered)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54535"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84848"/>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647" y="365760"/>
            <a:ext cx="10058400" cy="914400"/>
          </a:xfrm>
          <a:prstGeom prst="rect">
            <a:avLst/>
          </a:prstGeom>
          <a:noFill/>
        </p:spPr>
        <p:txBody>
          <a:bodyPr wrap="square"/>
          <a:lstStyle/>
          <a:p>
            <a:pPr algn="ctr">
              <a:lnSpc>
                <a:spcPct val="130000"/>
              </a:lnSpc>
              <a:spcAft>
                <a:spcPts val="600"/>
              </a:spcAft>
              <a:defRPr sz="4000" b="1">
                <a:solidFill>
                  <a:srgbClr val="DAA520"/>
                </a:solidFill>
                <a:latin typeface="Calibri"/>
              </a:defRPr>
            </a:pPr>
            <a:r>
              <a:t>The Challenge</a:t>
            </a:r>
          </a:p>
        </p:txBody>
      </p:sp>
      <p:sp>
        <p:nvSpPr>
          <p:cNvPr id="7" name="Rectangle 6"/>
          <p:cNvSpPr/>
          <p:nvPr/>
        </p:nvSpPr>
        <p:spPr>
          <a:xfrm>
            <a:off x="3352647" y="1051560"/>
            <a:ext cx="54864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463040"/>
            <a:ext cx="9448495" cy="5029200"/>
          </a:xfrm>
          <a:prstGeom prst="rect">
            <a:avLst/>
          </a:prstGeom>
          <a:noFill/>
        </p:spPr>
        <p:txBody>
          <a:bodyPr wrap="square"/>
          <a:lstStyle/>
          <a:p>
            <a:pPr algn="ctr">
              <a:spcAft>
                <a:spcPts val="2400"/>
              </a:spcAft>
              <a:defRPr sz="3000" b="1">
                <a:solidFill>
                  <a:srgbClr val="DAA520"/>
                </a:solidFill>
                <a:latin typeface="Calibri"/>
              </a:defRPr>
            </a:pPr>
            <a:r>
              <a:t>Each round begins with a challenge.</a:t>
            </a:r>
          </a:p>
          <a:p>
            <a:pPr algn="l">
              <a:spcAft>
                <a:spcPts val="1200"/>
              </a:spcAft>
              <a:defRPr sz="2800" b="0">
                <a:solidFill>
                  <a:srgbClr val="F5F0E0"/>
                </a:solidFill>
                <a:latin typeface="Calibri"/>
              </a:defRPr>
            </a:pPr>
            <a:r>
              <a:t>◆  Challenges test knowledge, speed, or teamwork</a:t>
            </a:r>
          </a:p>
          <a:p>
            <a:pPr algn="l">
              <a:spcAft>
                <a:spcPts val="1200"/>
              </a:spcAft>
              <a:defRPr sz="2800" b="0">
                <a:solidFill>
                  <a:srgbClr val="F5F0E0"/>
                </a:solidFill>
                <a:latin typeface="Calibri"/>
              </a:defRPr>
            </a:pPr>
            <a:r>
              <a:t>◆  Each challenge has a winner or winning team</a:t>
            </a:r>
          </a:p>
          <a:p>
            <a:pPr algn="l">
              <a:spcAft>
                <a:spcPts val="1200"/>
              </a:spcAft>
              <a:defRPr sz="2800" b="0">
                <a:solidFill>
                  <a:srgbClr val="F5F0E0"/>
                </a:solidFill>
                <a:latin typeface="Calibri"/>
              </a:defRPr>
            </a:pPr>
            <a:r>
              <a:t>◆  Winning may grant protection or special powers</a:t>
            </a:r>
          </a:p>
          <a:p>
            <a:pPr algn="l">
              <a:spcAft>
                <a:spcPts val="2800"/>
              </a:spcAft>
              <a:defRPr sz="2800" b="0">
                <a:solidFill>
                  <a:srgbClr val="F5F0E0"/>
                </a:solidFill>
                <a:latin typeface="Calibri"/>
              </a:defRPr>
            </a:pPr>
            <a:r>
              <a:t>◆  Challenge results feed into the debate</a:t>
            </a:r>
          </a:p>
          <a:p>
            <a:pPr algn="ctr">
              <a:spcAft>
                <a:spcPts val="1000"/>
              </a:spcAft>
              <a:defRPr sz="3000" b="1">
                <a:solidFill>
                  <a:srgbClr val="8B0000"/>
                </a:solidFill>
                <a:latin typeface="Calibri"/>
              </a:defRPr>
            </a:pPr>
            <a:r>
              <a:t>Watch carefully.</a:t>
            </a:r>
          </a:p>
          <a:p>
            <a:pPr algn="ctr">
              <a:spcAft>
                <a:spcPts val="800"/>
              </a:spcAft>
              <a:defRPr sz="2400" b="0">
                <a:solidFill>
                  <a:srgbClr val="999999"/>
                </a:solidFill>
                <a:latin typeface="Calibri"/>
              </a:defRPr>
            </a:pPr>
            <a:r>
              <a:t>Who tried to win? Who held back? Who sabotaged?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4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13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54535" y="0"/>
            <a:ext cx="137160" cy="6858000"/>
          </a:xfrm>
          <a:prstGeom prst="rect">
            <a:avLst/>
          </a:prstGeom>
          <a:solidFill>
            <a:srgbClr val="013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54864"/>
          </a:xfrm>
          <a:prstGeom prst="rect">
            <a:avLst/>
          </a:prstGeom>
          <a:solidFill>
            <a:srgbClr val="013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3136"/>
            <a:ext cx="12191695" cy="54864"/>
          </a:xfrm>
          <a:prstGeom prst="rect">
            <a:avLst/>
          </a:prstGeom>
          <a:solidFill>
            <a:srgbClr val="013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6647" y="320040"/>
            <a:ext cx="10058400" cy="914400"/>
          </a:xfrm>
          <a:prstGeom prst="rect">
            <a:avLst/>
          </a:prstGeom>
          <a:noFill/>
        </p:spPr>
        <p:txBody>
          <a:bodyPr wrap="square"/>
          <a:lstStyle/>
          <a:p>
            <a:pPr algn="ctr">
              <a:lnSpc>
                <a:spcPct val="130000"/>
              </a:lnSpc>
              <a:spcAft>
                <a:spcPts val="600"/>
              </a:spcAft>
              <a:defRPr sz="4000" b="1">
                <a:solidFill>
                  <a:srgbClr val="DAA520"/>
                </a:solidFill>
                <a:latin typeface="Calibri"/>
              </a:defRPr>
            </a:pPr>
            <a:r>
              <a:t>The Round Table</a:t>
            </a:r>
          </a:p>
        </p:txBody>
      </p:sp>
      <p:sp>
        <p:nvSpPr>
          <p:cNvPr id="8" name="Rectangle 7"/>
          <p:cNvSpPr/>
          <p:nvPr/>
        </p:nvSpPr>
        <p:spPr>
          <a:xfrm>
            <a:off x="3809847" y="1005840"/>
            <a:ext cx="45720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1371600"/>
            <a:ext cx="9448495" cy="5029200"/>
          </a:xfrm>
          <a:prstGeom prst="rect">
            <a:avLst/>
          </a:prstGeom>
          <a:noFill/>
        </p:spPr>
        <p:txBody>
          <a:bodyPr wrap="square"/>
          <a:lstStyle/>
          <a:p>
            <a:pPr algn="ctr">
              <a:spcAft>
                <a:spcPts val="2000"/>
              </a:spcAft>
              <a:defRPr sz="2800" b="1">
                <a:solidFill>
                  <a:srgbClr val="F5F0E0"/>
                </a:solidFill>
                <a:latin typeface="Calibri"/>
              </a:defRPr>
            </a:pPr>
            <a:r>
              <a:t>This is where the game is won and lost.</a:t>
            </a:r>
          </a:p>
          <a:p>
            <a:pPr algn="l">
              <a:spcAft>
                <a:spcPts val="1600"/>
              </a:spcAft>
              <a:defRPr sz="2600" b="1">
                <a:solidFill>
                  <a:srgbClr val="DAA520"/>
                </a:solidFill>
                <a:latin typeface="Calibri"/>
              </a:defRPr>
            </a:pPr>
            <a:r>
              <a:t>THE RULES OF DEBATE</a:t>
            </a:r>
          </a:p>
          <a:p>
            <a:pPr algn="l">
              <a:spcAft>
                <a:spcPts val="1000"/>
              </a:spcAft>
              <a:defRPr sz="2800" b="0">
                <a:solidFill>
                  <a:srgbClr val="F5F0E0"/>
                </a:solidFill>
                <a:latin typeface="Calibri"/>
              </a:defRPr>
            </a:pPr>
            <a:r>
              <a:t>◆  You have 30 SECONDS when called upon to speak</a:t>
            </a:r>
          </a:p>
          <a:p>
            <a:pPr algn="l">
              <a:spcAft>
                <a:spcPts val="1000"/>
              </a:spcAft>
              <a:defRPr sz="2800" b="0">
                <a:solidFill>
                  <a:srgbClr val="F5F0E0"/>
                </a:solidFill>
                <a:latin typeface="Calibri"/>
              </a:defRPr>
            </a:pPr>
            <a:r>
              <a:t>◆  The Host controls who speaks and when</a:t>
            </a:r>
          </a:p>
          <a:p>
            <a:pPr algn="l">
              <a:spcAft>
                <a:spcPts val="1000"/>
              </a:spcAft>
              <a:defRPr sz="2800" b="0">
                <a:solidFill>
                  <a:srgbClr val="F5F0E0"/>
                </a:solidFill>
                <a:latin typeface="Calibri"/>
              </a:defRPr>
            </a:pPr>
            <a:r>
              <a:t>◆  You may accuse, defend, question, or deflect</a:t>
            </a:r>
          </a:p>
          <a:p>
            <a:pPr algn="l">
              <a:spcAft>
                <a:spcPts val="1000"/>
              </a:spcAft>
              <a:defRPr sz="2800" b="1">
                <a:solidFill>
                  <a:srgbClr val="8B0000"/>
                </a:solidFill>
                <a:latin typeface="Calibri"/>
              </a:defRPr>
            </a:pPr>
            <a:r>
              <a:t>◆  NO WHISPERING -- all conversation is public</a:t>
            </a:r>
          </a:p>
          <a:p>
            <a:pPr algn="l">
              <a:spcAft>
                <a:spcPts val="2000"/>
              </a:spcAft>
              <a:defRPr sz="2800" b="0">
                <a:solidFill>
                  <a:srgbClr val="F5F0E0"/>
                </a:solidFill>
                <a:latin typeface="Calibri"/>
              </a:defRPr>
            </a:pPr>
            <a:r>
              <a:t>◆  No phones during the debate</a:t>
            </a:r>
          </a:p>
          <a:p>
            <a:pPr algn="ctr">
              <a:spcAft>
                <a:spcPts val="800"/>
              </a:spcAft>
              <a:defRPr sz="2800" b="1">
                <a:solidFill>
                  <a:srgbClr val="DAA520"/>
                </a:solidFill>
                <a:latin typeface="Calibri"/>
              </a:defRPr>
            </a:pPr>
            <a:r>
              <a:t>Speak with conviction. Listen for lies.</a:t>
            </a:r>
          </a:p>
          <a:p>
            <a:pPr algn="ctr">
              <a:spcAft>
                <a:spcPts val="800"/>
              </a:spcAft>
              <a:defRPr sz="2400" b="0">
                <a:solidFill>
                  <a:srgbClr val="999999"/>
                </a:solidFill>
                <a:latin typeface="Calibri"/>
              </a:defRPr>
            </a:pPr>
            <a:r>
              <a:t>10 minutes. Make every second count.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54535"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84848"/>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647" y="365760"/>
            <a:ext cx="10058400" cy="914400"/>
          </a:xfrm>
          <a:prstGeom prst="rect">
            <a:avLst/>
          </a:prstGeom>
          <a:noFill/>
        </p:spPr>
        <p:txBody>
          <a:bodyPr wrap="square"/>
          <a:lstStyle/>
          <a:p>
            <a:pPr algn="ctr">
              <a:lnSpc>
                <a:spcPct val="130000"/>
              </a:lnSpc>
              <a:spcAft>
                <a:spcPts val="600"/>
              </a:spcAft>
              <a:defRPr sz="4000" b="1">
                <a:solidFill>
                  <a:srgbClr val="DAA520"/>
                </a:solidFill>
                <a:latin typeface="Calibri"/>
              </a:defRPr>
            </a:pPr>
            <a:r>
              <a:t>The Banishment</a:t>
            </a:r>
          </a:p>
        </p:txBody>
      </p:sp>
      <p:sp>
        <p:nvSpPr>
          <p:cNvPr id="7" name="Rectangle 6"/>
          <p:cNvSpPr/>
          <p:nvPr/>
        </p:nvSpPr>
        <p:spPr>
          <a:xfrm>
            <a:off x="3352647" y="1051560"/>
            <a:ext cx="54864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463040"/>
            <a:ext cx="9448495" cy="5029200"/>
          </a:xfrm>
          <a:prstGeom prst="rect">
            <a:avLst/>
          </a:prstGeom>
          <a:noFill/>
        </p:spPr>
        <p:txBody>
          <a:bodyPr wrap="square"/>
          <a:lstStyle/>
          <a:p>
            <a:pPr algn="ctr">
              <a:spcAft>
                <a:spcPts val="2000"/>
              </a:spcAft>
              <a:defRPr sz="3000" b="1">
                <a:solidFill>
                  <a:srgbClr val="DAA520"/>
                </a:solidFill>
                <a:latin typeface="Calibri"/>
              </a:defRPr>
            </a:pPr>
            <a:r>
              <a:t>After the debate, you vote.</a:t>
            </a:r>
          </a:p>
          <a:p>
            <a:pPr algn="l">
              <a:spcAft>
                <a:spcPts val="1400"/>
              </a:spcAft>
              <a:defRPr sz="2600" b="1">
                <a:solidFill>
                  <a:srgbClr val="DAA520"/>
                </a:solidFill>
                <a:latin typeface="Calibri"/>
              </a:defRPr>
            </a:pPr>
            <a:r>
              <a:t>HOW IT WORKS</a:t>
            </a:r>
          </a:p>
          <a:p>
            <a:pPr algn="l">
              <a:spcAft>
                <a:spcPts val="1000"/>
              </a:spcAft>
              <a:defRPr sz="2800" b="0">
                <a:solidFill>
                  <a:srgbClr val="F5F0E0"/>
                </a:solidFill>
                <a:latin typeface="Calibri"/>
              </a:defRPr>
            </a:pPr>
            <a:r>
              <a:t>◆  Everyone writes one name on their voting slip</a:t>
            </a:r>
          </a:p>
          <a:p>
            <a:pPr algn="l">
              <a:spcAft>
                <a:spcPts val="1000"/>
              </a:spcAft>
              <a:defRPr sz="2800" b="0">
                <a:solidFill>
                  <a:srgbClr val="F5F0E0"/>
                </a:solidFill>
                <a:latin typeface="Calibri"/>
              </a:defRPr>
            </a:pPr>
            <a:r>
              <a:t>◆  Votes are collected and read aloud by the Host</a:t>
            </a:r>
          </a:p>
          <a:p>
            <a:pPr algn="l">
              <a:spcAft>
                <a:spcPts val="1000"/>
              </a:spcAft>
              <a:defRPr sz="2800" b="0">
                <a:solidFill>
                  <a:srgbClr val="F5F0E0"/>
                </a:solidFill>
                <a:latin typeface="Calibri"/>
              </a:defRPr>
            </a:pPr>
            <a:r>
              <a:t>◆  The player with the most votes is BANISHED</a:t>
            </a:r>
          </a:p>
          <a:p>
            <a:pPr algn="l">
              <a:spcAft>
                <a:spcPts val="1000"/>
              </a:spcAft>
              <a:defRPr sz="2400" b="0">
                <a:solidFill>
                  <a:srgbClr val="CCCCCC"/>
                </a:solidFill>
                <a:latin typeface="Calibri"/>
              </a:defRPr>
            </a:pPr>
            <a:r>
              <a:t>◆  In case of a tie, the Host calls a revote between tied players</a:t>
            </a:r>
          </a:p>
          <a:p>
            <a:pPr algn="l">
              <a:spcAft>
                <a:spcPts val="2000"/>
              </a:spcAft>
              <a:defRPr sz="2400" b="0">
                <a:solidFill>
                  <a:srgbClr val="CCCCCC"/>
                </a:solidFill>
                <a:latin typeface="Calibri"/>
              </a:defRPr>
            </a:pPr>
            <a:r>
              <a:t>◆  If still tied, the Host breaks the tie</a:t>
            </a:r>
          </a:p>
          <a:p>
            <a:pPr algn="ctr">
              <a:spcAft>
                <a:spcPts val="800"/>
              </a:spcAft>
              <a:defRPr sz="2800" b="1">
                <a:solidFill>
                  <a:srgbClr val="8B0000"/>
                </a:solidFill>
                <a:latin typeface="Calibri"/>
              </a:defRPr>
            </a:pPr>
            <a:r>
              <a:t>The banished player reveals their role.</a:t>
            </a:r>
          </a:p>
          <a:p>
            <a:pPr algn="ctr">
              <a:spcAft>
                <a:spcPts val="800"/>
              </a:spcAft>
              <a:defRPr sz="2400" b="0">
                <a:solidFill>
                  <a:srgbClr val="999999"/>
                </a:solidFill>
                <a:latin typeface="Calibri"/>
              </a:defRPr>
            </a:pPr>
            <a:r>
              <a:t>Faithful or Traitor -- the truth comes out.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D0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33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54535" y="0"/>
            <a:ext cx="137160" cy="6858000"/>
          </a:xfrm>
          <a:prstGeom prst="rect">
            <a:avLst/>
          </a:prstGeom>
          <a:solidFill>
            <a:srgbClr val="33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54864"/>
          </a:xfrm>
          <a:prstGeom prst="rect">
            <a:avLst/>
          </a:prstGeom>
          <a:solidFill>
            <a:srgbClr val="33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3136"/>
            <a:ext cx="12191695" cy="54864"/>
          </a:xfrm>
          <a:prstGeom prst="rect">
            <a:avLst/>
          </a:prstGeom>
          <a:solidFill>
            <a:srgbClr val="33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6647" y="457200"/>
            <a:ext cx="10058400" cy="914400"/>
          </a:xfrm>
          <a:prstGeom prst="rect">
            <a:avLst/>
          </a:prstGeom>
          <a:noFill/>
        </p:spPr>
        <p:txBody>
          <a:bodyPr wrap="square"/>
          <a:lstStyle/>
          <a:p>
            <a:pPr algn="ctr">
              <a:lnSpc>
                <a:spcPct val="130000"/>
              </a:lnSpc>
              <a:spcAft>
                <a:spcPts val="600"/>
              </a:spcAft>
              <a:defRPr sz="4000" b="1">
                <a:solidFill>
                  <a:srgbClr val="F0D070"/>
                </a:solidFill>
                <a:latin typeface="Calibri"/>
              </a:defRPr>
            </a:pPr>
            <a:r>
              <a:t>The Night</a:t>
            </a:r>
          </a:p>
        </p:txBody>
      </p:sp>
      <p:sp>
        <p:nvSpPr>
          <p:cNvPr id="8" name="Rectangle 7"/>
          <p:cNvSpPr/>
          <p:nvPr/>
        </p:nvSpPr>
        <p:spPr>
          <a:xfrm>
            <a:off x="4724247" y="1143000"/>
            <a:ext cx="2743200" cy="36576"/>
          </a:xfrm>
          <a:prstGeom prst="rect">
            <a:avLst/>
          </a:prstGeom>
          <a:solidFill>
            <a:srgbClr val="66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81047" y="1645920"/>
            <a:ext cx="8229600" cy="4572000"/>
          </a:xfrm>
          <a:prstGeom prst="rect">
            <a:avLst/>
          </a:prstGeom>
          <a:noFill/>
        </p:spPr>
        <p:txBody>
          <a:bodyPr wrap="square"/>
          <a:lstStyle/>
          <a:p>
            <a:pPr algn="ctr">
              <a:spcAft>
                <a:spcPts val="2800"/>
              </a:spcAft>
              <a:defRPr sz="3000" b="1">
                <a:solidFill>
                  <a:srgbClr val="F5F0E0"/>
                </a:solidFill>
                <a:latin typeface="Calibri"/>
              </a:defRPr>
            </a:pPr>
            <a:r>
              <a:t>When darkness falls, the Traitors go to work.</a:t>
            </a:r>
          </a:p>
          <a:p>
            <a:pPr algn="l">
              <a:spcAft>
                <a:spcPts val="1200"/>
              </a:spcAft>
              <a:defRPr sz="2800" b="0">
                <a:solidFill>
                  <a:srgbClr val="F5F0E0"/>
                </a:solidFill>
                <a:latin typeface="Calibri"/>
              </a:defRPr>
            </a:pPr>
            <a:r>
              <a:t>◆  All players close their eyes or bow their heads</a:t>
            </a:r>
          </a:p>
          <a:p>
            <a:pPr algn="l">
              <a:spcAft>
                <a:spcPts val="1200"/>
              </a:spcAft>
              <a:defRPr sz="2800" b="0">
                <a:solidFill>
                  <a:srgbClr val="F5F0E0"/>
                </a:solidFill>
                <a:latin typeface="Calibri"/>
              </a:defRPr>
            </a:pPr>
            <a:r>
              <a:t>◆  The Host will conduct the night phase</a:t>
            </a:r>
          </a:p>
          <a:p>
            <a:pPr algn="l">
              <a:spcAft>
                <a:spcPts val="1200"/>
              </a:spcAft>
              <a:defRPr sz="2800" b="0">
                <a:solidFill>
                  <a:srgbClr val="F5F0E0"/>
                </a:solidFill>
                <a:latin typeface="Calibri"/>
              </a:defRPr>
            </a:pPr>
            <a:r>
              <a:t>◆  When morning comes, one player will be gone</a:t>
            </a:r>
          </a:p>
          <a:p>
            <a:pPr algn="l">
              <a:spcAft>
                <a:spcPts val="2800"/>
              </a:spcAft>
              <a:defRPr sz="2800" b="0">
                <a:solidFill>
                  <a:srgbClr val="F5F0E0"/>
                </a:solidFill>
                <a:latin typeface="Calibri"/>
              </a:defRPr>
            </a:pPr>
            <a:r>
              <a:t>◆  The murdered player reveals their role</a:t>
            </a:r>
          </a:p>
          <a:p>
            <a:pPr algn="ctr">
              <a:spcAft>
                <a:spcPts val="1000"/>
              </a:spcAft>
              <a:defRPr sz="2800" b="1">
                <a:solidFill>
                  <a:srgbClr val="996699"/>
                </a:solidFill>
                <a:latin typeface="Calibri"/>
              </a:defRPr>
            </a:pPr>
            <a:r>
              <a:t>You will not know how it happened.</a:t>
            </a:r>
          </a:p>
          <a:p>
            <a:pPr algn="ctr">
              <a:spcAft>
                <a:spcPts val="800"/>
              </a:spcAft>
              <a:defRPr sz="2800" b="1">
                <a:solidFill>
                  <a:srgbClr val="996699"/>
                </a:solidFill>
                <a:latin typeface="Calibri"/>
              </a:defRPr>
            </a:pPr>
            <a:r>
              <a:t>You will only know they are gone.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14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847" y="0"/>
            <a:ext cx="6095847" cy="6858000"/>
          </a:xfrm>
          <a:prstGeom prst="rect">
            <a:avLst/>
          </a:prstGeom>
          <a:solidFill>
            <a:srgbClr val="0814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8800" y="0"/>
            <a:ext cx="8534095" cy="685800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054535" y="0"/>
            <a:ext cx="137160" cy="6858000"/>
          </a:xfrm>
          <a:prstGeom prst="rect">
            <a:avLst/>
          </a:prstGeom>
          <a:solidFill>
            <a:srgbClr val="013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1695" cy="54864"/>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803136"/>
            <a:ext cx="12191695" cy="54864"/>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6647" y="365760"/>
            <a:ext cx="10058400" cy="914400"/>
          </a:xfrm>
          <a:prstGeom prst="rect">
            <a:avLst/>
          </a:prstGeom>
          <a:noFill/>
        </p:spPr>
        <p:txBody>
          <a:bodyPr wrap="square"/>
          <a:lstStyle/>
          <a:p>
            <a:pPr algn="ctr">
              <a:lnSpc>
                <a:spcPct val="130000"/>
              </a:lnSpc>
              <a:spcAft>
                <a:spcPts val="600"/>
              </a:spcAft>
              <a:defRPr sz="4000" b="1">
                <a:solidFill>
                  <a:srgbClr val="DAA520"/>
                </a:solidFill>
                <a:latin typeface="Calibri"/>
              </a:defRPr>
            </a:pPr>
            <a:r>
              <a:t>Phase 2: The Merge</a:t>
            </a:r>
          </a:p>
        </p:txBody>
      </p:sp>
      <p:sp>
        <p:nvSpPr>
          <p:cNvPr id="10" name="Rectangle 9"/>
          <p:cNvSpPr/>
          <p:nvPr/>
        </p:nvSpPr>
        <p:spPr>
          <a:xfrm>
            <a:off x="3809847" y="1051560"/>
            <a:ext cx="45720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1463040"/>
            <a:ext cx="9448495" cy="5029200"/>
          </a:xfrm>
          <a:prstGeom prst="rect">
            <a:avLst/>
          </a:prstGeom>
          <a:noFill/>
        </p:spPr>
        <p:txBody>
          <a:bodyPr wrap="square"/>
          <a:lstStyle/>
          <a:p>
            <a:pPr algn="ctr">
              <a:spcAft>
                <a:spcPts val="2400"/>
              </a:spcAft>
              <a:defRPr sz="3200" b="1">
                <a:solidFill>
                  <a:srgbClr val="DAA520"/>
                </a:solidFill>
                <a:latin typeface="Calibri"/>
              </a:defRPr>
            </a:pPr>
            <a:r>
              <a:t>At 22 players, the houses become one.</a:t>
            </a:r>
          </a:p>
          <a:p>
            <a:pPr algn="l">
              <a:spcAft>
                <a:spcPts val="1000"/>
              </a:spcAft>
              <a:defRPr sz="2800" b="0">
                <a:solidFill>
                  <a:srgbClr val="F5F0E0"/>
                </a:solidFill>
                <a:latin typeface="Calibri"/>
              </a:defRPr>
            </a:pPr>
            <a:r>
              <a:t>◆  House A and House B are dissolved</a:t>
            </a:r>
          </a:p>
          <a:p>
            <a:pPr algn="l">
              <a:spcAft>
                <a:spcPts val="1000"/>
              </a:spcAft>
              <a:defRPr sz="2800" b="0">
                <a:solidFill>
                  <a:srgbClr val="F5F0E0"/>
                </a:solidFill>
                <a:latin typeface="Calibri"/>
              </a:defRPr>
            </a:pPr>
            <a:r>
              <a:t>◆  All remaining players form a single group</a:t>
            </a:r>
          </a:p>
          <a:p>
            <a:pPr algn="l">
              <a:spcAft>
                <a:spcPts val="2000"/>
              </a:spcAft>
              <a:defRPr sz="2800" b="1">
                <a:solidFill>
                  <a:srgbClr val="8B0000"/>
                </a:solidFill>
                <a:latin typeface="Calibri"/>
              </a:defRPr>
            </a:pPr>
            <a:r>
              <a:t>◆  All surviving Traitors now know each other</a:t>
            </a:r>
          </a:p>
          <a:p>
            <a:pPr algn="l">
              <a:spcAft>
                <a:spcPts val="1400"/>
              </a:spcAft>
              <a:defRPr sz="2600" b="1">
                <a:solidFill>
                  <a:srgbClr val="DAA520"/>
                </a:solidFill>
                <a:latin typeface="Calibri"/>
              </a:defRPr>
            </a:pPr>
            <a:r>
              <a:t>THE MERGE ROUND</a:t>
            </a:r>
          </a:p>
          <a:p>
            <a:pPr algn="l">
              <a:spcAft>
                <a:spcPts val="1000"/>
              </a:spcAft>
              <a:defRPr sz="2800" b="0">
                <a:solidFill>
                  <a:srgbClr val="F5F0E0"/>
                </a:solidFill>
                <a:latin typeface="Calibri"/>
              </a:defRPr>
            </a:pPr>
            <a:r>
              <a:t>◆  A special Merge Challenge for a powerful reward</a:t>
            </a:r>
          </a:p>
          <a:p>
            <a:pPr algn="l">
              <a:spcAft>
                <a:spcPts val="1000"/>
              </a:spcAft>
              <a:defRPr sz="2800" b="0">
                <a:solidFill>
                  <a:srgbClr val="F5F0E0"/>
                </a:solidFill>
                <a:latin typeface="Calibri"/>
              </a:defRPr>
            </a:pPr>
            <a:r>
              <a:t>◆  The Chalice Ceremony -- a toast to new alliances</a:t>
            </a:r>
          </a:p>
          <a:p>
            <a:pPr algn="l">
              <a:spcAft>
                <a:spcPts val="1000"/>
              </a:spcAft>
              <a:defRPr sz="2800" b="1">
                <a:solidFill>
                  <a:srgbClr val="AA0000"/>
                </a:solidFill>
                <a:latin typeface="Calibri"/>
              </a:defRPr>
            </a:pPr>
            <a:r>
              <a:t>◆  A DOUBLE banishment -- two players voted out</a:t>
            </a:r>
          </a:p>
          <a:p>
            <a:pPr algn="l">
              <a:spcAft>
                <a:spcPts val="1000"/>
              </a:spcAft>
              <a:defRPr sz="2800" b="0">
                <a:solidFill>
                  <a:srgbClr val="F5F0E0"/>
                </a:solidFill>
                <a:latin typeface="Calibri"/>
              </a:defRPr>
            </a:pPr>
            <a:r>
              <a:t>◆  Then the night...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0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54535" y="0"/>
            <a:ext cx="137160" cy="6858000"/>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54864"/>
          </a:xfrm>
          <a:prstGeom prst="rect">
            <a:avLst/>
          </a:prstGeom>
          <a:solidFill>
            <a:srgbClr val="8B7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3136"/>
            <a:ext cx="12191695" cy="54864"/>
          </a:xfrm>
          <a:prstGeom prst="rect">
            <a:avLst/>
          </a:prstGeom>
          <a:solidFill>
            <a:srgbClr val="8B7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5730087" y="365760"/>
            <a:ext cx="731520" cy="914400"/>
          </a:xfrm>
          <a:prstGeom prst="diamond">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6647" y="1371600"/>
            <a:ext cx="10058400" cy="914400"/>
          </a:xfrm>
          <a:prstGeom prst="rect">
            <a:avLst/>
          </a:prstGeom>
          <a:noFill/>
        </p:spPr>
        <p:txBody>
          <a:bodyPr wrap="square"/>
          <a:lstStyle/>
          <a:p>
            <a:pPr algn="ctr">
              <a:lnSpc>
                <a:spcPct val="130000"/>
              </a:lnSpc>
              <a:spcAft>
                <a:spcPts val="600"/>
              </a:spcAft>
              <a:defRPr sz="4000" b="1">
                <a:solidFill>
                  <a:srgbClr val="DAA520"/>
                </a:solidFill>
                <a:latin typeface="Calibri"/>
              </a:defRPr>
            </a:pPr>
            <a:r>
              <a:t>The Dagger</a:t>
            </a:r>
          </a:p>
        </p:txBody>
      </p:sp>
      <p:sp>
        <p:nvSpPr>
          <p:cNvPr id="9" name="Rectangle 8"/>
          <p:cNvSpPr/>
          <p:nvPr/>
        </p:nvSpPr>
        <p:spPr>
          <a:xfrm>
            <a:off x="4267047" y="2011680"/>
            <a:ext cx="36576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286000"/>
            <a:ext cx="9448495" cy="4114800"/>
          </a:xfrm>
          <a:prstGeom prst="rect">
            <a:avLst/>
          </a:prstGeom>
          <a:noFill/>
        </p:spPr>
        <p:txBody>
          <a:bodyPr wrap="square"/>
          <a:lstStyle/>
          <a:p>
            <a:pPr algn="ctr">
              <a:spcAft>
                <a:spcPts val="2400"/>
              </a:spcAft>
              <a:defRPr sz="2800" b="1">
                <a:solidFill>
                  <a:srgbClr val="F5F0E0"/>
                </a:solidFill>
                <a:latin typeface="Calibri"/>
              </a:defRPr>
            </a:pPr>
            <a:r>
              <a:t>Won by the victor of the Merge Challenge.</a:t>
            </a:r>
          </a:p>
          <a:p>
            <a:pPr algn="l">
              <a:spcAft>
                <a:spcPts val="1400"/>
              </a:spcAft>
              <a:defRPr sz="2600" b="1">
                <a:solidFill>
                  <a:srgbClr val="DAA520"/>
                </a:solidFill>
                <a:latin typeface="Calibri"/>
              </a:defRPr>
            </a:pPr>
            <a:r>
              <a:t>THE POWER</a:t>
            </a:r>
          </a:p>
          <a:p>
            <a:pPr algn="l">
              <a:spcAft>
                <a:spcPts val="2000"/>
              </a:spcAft>
              <a:defRPr sz="3000" b="1">
                <a:solidFill>
                  <a:srgbClr val="F0D070"/>
                </a:solidFill>
                <a:latin typeface="Calibri"/>
              </a:defRPr>
            </a:pPr>
            <a:r>
              <a:t>◆  Cast TWO votes in a single banishment</a:t>
            </a:r>
          </a:p>
          <a:p>
            <a:pPr algn="l">
              <a:spcAft>
                <a:spcPts val="1400"/>
              </a:spcAft>
              <a:defRPr sz="2600" b="1">
                <a:solidFill>
                  <a:srgbClr val="DAA520"/>
                </a:solidFill>
                <a:latin typeface="Calibri"/>
              </a:defRPr>
            </a:pPr>
            <a:r>
              <a:t>THE RULES</a:t>
            </a:r>
          </a:p>
          <a:p>
            <a:pPr algn="l">
              <a:spcAft>
                <a:spcPts val="800"/>
              </a:spcAft>
              <a:defRPr sz="2800" b="0">
                <a:solidFill>
                  <a:srgbClr val="F5F0E0"/>
                </a:solidFill>
                <a:latin typeface="Calibri"/>
              </a:defRPr>
            </a:pPr>
            <a:r>
              <a:t>◆  May be used this round or the next</a:t>
            </a:r>
          </a:p>
          <a:p>
            <a:pPr algn="l">
              <a:spcAft>
                <a:spcPts val="800"/>
              </a:spcAft>
              <a:defRPr sz="2800" b="0">
                <a:solidFill>
                  <a:srgbClr val="F5F0E0"/>
                </a:solidFill>
                <a:latin typeface="Calibri"/>
              </a:defRPr>
            </a:pPr>
            <a:r>
              <a:t>◆  Must declare BEFORE votes are revealed</a:t>
            </a:r>
          </a:p>
          <a:p>
            <a:pPr algn="l">
              <a:spcAft>
                <a:spcPts val="800"/>
              </a:spcAft>
              <a:defRPr sz="2800" b="0">
                <a:solidFill>
                  <a:srgbClr val="F5F0E0"/>
                </a:solidFill>
                <a:latin typeface="Calibri"/>
              </a:defRPr>
            </a:pPr>
            <a:r>
              <a:t>◆  Both votes must target the same player</a:t>
            </a:r>
          </a:p>
          <a:p>
            <a:pPr algn="l">
              <a:spcAft>
                <a:spcPts val="800"/>
              </a:spcAft>
              <a:defRPr sz="2800" b="0">
                <a:solidFill>
                  <a:srgbClr val="F5F0E0"/>
                </a:solidFill>
                <a:latin typeface="Calibri"/>
              </a:defRPr>
            </a:pPr>
            <a:r>
              <a:t>◆  Expires after 2 rounds -- use it or lose it</a:t>
            </a:r>
          </a:p>
          <a:p>
            <a:pPr algn="l">
              <a:spcAft>
                <a:spcPts val="800"/>
              </a:spcAft>
              <a:defRPr sz="2400" b="0">
                <a:solidFill>
                  <a:srgbClr val="CCCCCC"/>
                </a:solidFill>
                <a:latin typeface="Calibri"/>
              </a:defRPr>
            </a:pPr>
            <a:r>
              <a:t>◆  Cannot be used at the Final 6</a:t>
            </a:r>
          </a:p>
          <a:p>
            <a:pPr algn="l">
              <a:spcAft>
                <a:spcPts val="800"/>
              </a:spcAft>
              <a:defRPr sz="2400" b="0">
                <a:solidFill>
                  <a:srgbClr val="CCCCCC"/>
                </a:solidFill>
                <a:latin typeface="Calibri"/>
              </a:defRPr>
            </a:pPr>
            <a:r>
              <a:t>◆  If the holder is banished, the Dagger vanishes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40A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054535"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54864"/>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3136"/>
            <a:ext cx="12191695" cy="54864"/>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638647" y="457200"/>
            <a:ext cx="914400" cy="914400"/>
          </a:xfrm>
          <a:prstGeom prst="ellipse">
            <a:avLst/>
          </a:prstGeom>
          <a:solidFill>
            <a:srgbClr val="5C0000"/>
          </a:solidFill>
          <a:ln w="254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6647" y="1554480"/>
            <a:ext cx="10058400" cy="914400"/>
          </a:xfrm>
          <a:prstGeom prst="rect">
            <a:avLst/>
          </a:prstGeom>
          <a:noFill/>
        </p:spPr>
        <p:txBody>
          <a:bodyPr wrap="square"/>
          <a:lstStyle/>
          <a:p>
            <a:pPr algn="ctr">
              <a:lnSpc>
                <a:spcPct val="130000"/>
              </a:lnSpc>
              <a:spcAft>
                <a:spcPts val="600"/>
              </a:spcAft>
              <a:defRPr sz="4000" b="1">
                <a:solidFill>
                  <a:srgbClr val="DAA520"/>
                </a:solidFill>
                <a:latin typeface="Calibri"/>
              </a:defRPr>
            </a:pPr>
            <a:r>
              <a:t>The Chalice Ceremony</a:t>
            </a:r>
          </a:p>
        </p:txBody>
      </p:sp>
      <p:sp>
        <p:nvSpPr>
          <p:cNvPr id="9" name="Rectangle 8"/>
          <p:cNvSpPr/>
          <p:nvPr/>
        </p:nvSpPr>
        <p:spPr>
          <a:xfrm>
            <a:off x="3809847" y="2240280"/>
            <a:ext cx="45720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81047" y="2560320"/>
            <a:ext cx="8229600" cy="3657600"/>
          </a:xfrm>
          <a:prstGeom prst="rect">
            <a:avLst/>
          </a:prstGeom>
          <a:noFill/>
        </p:spPr>
        <p:txBody>
          <a:bodyPr wrap="square"/>
          <a:lstStyle/>
          <a:p>
            <a:pPr algn="ctr">
              <a:spcAft>
                <a:spcPts val="2800"/>
              </a:spcAft>
              <a:defRPr sz="3200" b="1">
                <a:solidFill>
                  <a:srgbClr val="F0D070"/>
                </a:solidFill>
                <a:latin typeface="Calibri"/>
              </a:defRPr>
            </a:pPr>
            <a:r>
              <a:t>A toast to new alliances.</a:t>
            </a:r>
          </a:p>
          <a:p>
            <a:pPr algn="ctr">
              <a:spcAft>
                <a:spcPts val="1600"/>
              </a:spcAft>
              <a:defRPr sz="2600" b="0">
                <a:solidFill>
                  <a:srgbClr val="F5F0E0"/>
                </a:solidFill>
                <a:latin typeface="Calibri"/>
              </a:defRPr>
            </a:pPr>
            <a:r>
              <a:t>When the houses merge, we gather to mark the occasion.</a:t>
            </a:r>
          </a:p>
          <a:p>
            <a:pPr algn="ctr">
              <a:spcAft>
                <a:spcPts val="1600"/>
              </a:spcAft>
              <a:defRPr sz="2600" b="0">
                <a:solidFill>
                  <a:srgbClr val="F5F0E0"/>
                </a:solidFill>
                <a:latin typeface="Calibri"/>
              </a:defRPr>
            </a:pPr>
            <a:r>
              <a:t>Each player will raise a chalice.</a:t>
            </a:r>
          </a:p>
          <a:p>
            <a:pPr algn="ctr">
              <a:spcAft>
                <a:spcPts val="2800"/>
              </a:spcAft>
              <a:defRPr sz="2600" b="0">
                <a:solidFill>
                  <a:srgbClr val="F5F0E0"/>
                </a:solidFill>
                <a:latin typeface="Calibri"/>
              </a:defRPr>
            </a:pPr>
            <a:r>
              <a:t>You will mingle. You will toast. You will drink.</a:t>
            </a:r>
          </a:p>
          <a:p>
            <a:pPr algn="ctr">
              <a:spcAft>
                <a:spcPts val="1200"/>
              </a:spcAft>
              <a:defRPr sz="3000" b="1">
                <a:solidFill>
                  <a:srgbClr val="DAA520"/>
                </a:solidFill>
                <a:latin typeface="Calibri"/>
              </a:defRPr>
            </a:pPr>
            <a:r>
              <a:t>Enjoy the ceremony.</a:t>
            </a:r>
          </a:p>
          <a:p>
            <a:pPr algn="ctr">
              <a:spcAft>
                <a:spcPts val="800"/>
              </a:spcAft>
              <a:defRPr sz="2800" b="1">
                <a:solidFill>
                  <a:srgbClr val="8B0000"/>
                </a:solidFill>
                <a:latin typeface="Calibri"/>
              </a:defRPr>
            </a:pPr>
            <a:r>
              <a:t>But be careful who you drink with.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54535"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84848"/>
            <a:ext cx="12191695" cy="73152"/>
          </a:xfrm>
          <a:prstGeom prst="rect">
            <a:avLst/>
          </a:prstGeom>
          <a:solidFill>
            <a:srgbClr val="5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647" y="365760"/>
            <a:ext cx="10058400" cy="914400"/>
          </a:xfrm>
          <a:prstGeom prst="rect">
            <a:avLst/>
          </a:prstGeom>
          <a:noFill/>
        </p:spPr>
        <p:txBody>
          <a:bodyPr wrap="square"/>
          <a:lstStyle/>
          <a:p>
            <a:pPr algn="ctr">
              <a:lnSpc>
                <a:spcPct val="130000"/>
              </a:lnSpc>
              <a:spcAft>
                <a:spcPts val="600"/>
              </a:spcAft>
              <a:defRPr sz="4000" b="1">
                <a:solidFill>
                  <a:srgbClr val="DAA520"/>
                </a:solidFill>
                <a:latin typeface="Calibri"/>
              </a:defRPr>
            </a:pPr>
            <a:r>
              <a:t>The Endgame</a:t>
            </a:r>
          </a:p>
        </p:txBody>
      </p:sp>
      <p:sp>
        <p:nvSpPr>
          <p:cNvPr id="7" name="Rectangle 6"/>
          <p:cNvSpPr/>
          <p:nvPr/>
        </p:nvSpPr>
        <p:spPr>
          <a:xfrm>
            <a:off x="3352647" y="1051560"/>
            <a:ext cx="54864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463040"/>
            <a:ext cx="9448495" cy="5029200"/>
          </a:xfrm>
          <a:prstGeom prst="rect">
            <a:avLst/>
          </a:prstGeom>
          <a:noFill/>
        </p:spPr>
        <p:txBody>
          <a:bodyPr wrap="square"/>
          <a:lstStyle/>
          <a:p>
            <a:pPr algn="ctr">
              <a:spcAft>
                <a:spcPts val="2400"/>
              </a:spcAft>
              <a:defRPr sz="3200" b="1">
                <a:solidFill>
                  <a:srgbClr val="DAA520"/>
                </a:solidFill>
                <a:latin typeface="Calibri"/>
              </a:defRPr>
            </a:pPr>
            <a:r>
              <a:t>At 11 players, the murders stop.</a:t>
            </a:r>
          </a:p>
          <a:p>
            <a:pPr algn="ctr">
              <a:spcAft>
                <a:spcPts val="2400"/>
              </a:spcAft>
              <a:defRPr sz="2600" b="0">
                <a:solidFill>
                  <a:srgbClr val="F5F0E0"/>
                </a:solidFill>
                <a:latin typeface="Calibri"/>
              </a:defRPr>
            </a:pPr>
            <a:r>
              <a:t>From this point forward, only banishments remain.</a:t>
            </a:r>
          </a:p>
          <a:p>
            <a:pPr algn="l">
              <a:spcAft>
                <a:spcPts val="1000"/>
              </a:spcAft>
              <a:defRPr sz="2800" b="0">
                <a:solidFill>
                  <a:srgbClr val="F5F0E0"/>
                </a:solidFill>
                <a:latin typeface="Calibri"/>
              </a:defRPr>
            </a:pPr>
            <a:r>
              <a:t>◆  No more night kills</a:t>
            </a:r>
          </a:p>
          <a:p>
            <a:pPr algn="l">
              <a:spcAft>
                <a:spcPts val="1000"/>
              </a:spcAft>
              <a:defRPr sz="2800" b="0">
                <a:solidFill>
                  <a:srgbClr val="F5F0E0"/>
                </a:solidFill>
                <a:latin typeface="Calibri"/>
              </a:defRPr>
            </a:pPr>
            <a:r>
              <a:t>◆  Each round: debate, then vote</a:t>
            </a:r>
          </a:p>
          <a:p>
            <a:pPr algn="l">
              <a:spcAft>
                <a:spcPts val="1000"/>
              </a:spcAft>
              <a:defRPr sz="2800" b="0">
                <a:solidFill>
                  <a:srgbClr val="F5F0E0"/>
                </a:solidFill>
                <a:latin typeface="Calibri"/>
              </a:defRPr>
            </a:pPr>
            <a:r>
              <a:t>◆  One player banished per round</a:t>
            </a:r>
          </a:p>
          <a:p>
            <a:pPr algn="l">
              <a:spcAft>
                <a:spcPts val="2400"/>
              </a:spcAft>
              <a:defRPr sz="2800" b="0">
                <a:solidFill>
                  <a:srgbClr val="F5F0E0"/>
                </a:solidFill>
                <a:latin typeface="Calibri"/>
              </a:defRPr>
            </a:pPr>
            <a:r>
              <a:t>◆  Banished players still reveal their role</a:t>
            </a:r>
          </a:p>
          <a:p>
            <a:pPr algn="ctr">
              <a:spcAft>
                <a:spcPts val="1600"/>
              </a:spcAft>
              <a:defRPr sz="3600" b="1">
                <a:solidFill>
                  <a:srgbClr val="8B0000"/>
                </a:solidFill>
                <a:latin typeface="Calibri"/>
              </a:defRPr>
            </a:pPr>
            <a:r>
              <a:t>11 ... 10 ... 9 ... 8 ... 7 ... 6</a:t>
            </a:r>
          </a:p>
          <a:p>
            <a:pPr algn="ctr">
              <a:spcAft>
                <a:spcPts val="800"/>
              </a:spcAft>
              <a:defRPr sz="2800" b="1">
                <a:solidFill>
                  <a:srgbClr val="DAA520"/>
                </a:solidFill>
                <a:latin typeface="Calibri"/>
              </a:defRPr>
            </a:pPr>
            <a:r>
              <a:t>At 6, the Final Circle is called.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A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6126480"/>
          </a:xfrm>
          <a:prstGeom prst="rect">
            <a:avLst/>
          </a:prstGeom>
          <a:noFill/>
          <a:ln w="254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37160" cy="6858000"/>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54535" y="0"/>
            <a:ext cx="137160" cy="6858000"/>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647" y="548640"/>
            <a:ext cx="10058400" cy="914400"/>
          </a:xfrm>
          <a:prstGeom prst="rect">
            <a:avLst/>
          </a:prstGeom>
          <a:noFill/>
        </p:spPr>
        <p:txBody>
          <a:bodyPr wrap="square"/>
          <a:lstStyle/>
          <a:p>
            <a:pPr algn="ctr">
              <a:lnSpc>
                <a:spcPct val="130000"/>
              </a:lnSpc>
              <a:spcAft>
                <a:spcPts val="600"/>
              </a:spcAft>
              <a:defRPr sz="5600" b="1">
                <a:solidFill>
                  <a:srgbClr val="DAA520"/>
                </a:solidFill>
                <a:latin typeface="Calibri"/>
              </a:defRPr>
            </a:pPr>
            <a:r>
              <a:t>The Final Circle</a:t>
            </a:r>
          </a:p>
        </p:txBody>
      </p:sp>
      <p:sp>
        <p:nvSpPr>
          <p:cNvPr id="7" name="Rectangle 6"/>
          <p:cNvSpPr/>
          <p:nvPr/>
        </p:nvSpPr>
        <p:spPr>
          <a:xfrm>
            <a:off x="3809847" y="1371600"/>
            <a:ext cx="45720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81047" y="1737360"/>
            <a:ext cx="8229600" cy="4572000"/>
          </a:xfrm>
          <a:prstGeom prst="rect">
            <a:avLst/>
          </a:prstGeom>
          <a:noFill/>
        </p:spPr>
        <p:txBody>
          <a:bodyPr wrap="square"/>
          <a:lstStyle/>
          <a:p>
            <a:pPr algn="ctr">
              <a:spcAft>
                <a:spcPts val="2400"/>
              </a:spcAft>
              <a:defRPr sz="3000" b="1">
                <a:solidFill>
                  <a:srgbClr val="F5F0E0"/>
                </a:solidFill>
                <a:latin typeface="Calibri"/>
              </a:defRPr>
            </a:pPr>
            <a:r>
              <a:t>6 players remain. The moment of truth.</a:t>
            </a:r>
          </a:p>
          <a:p>
            <a:pPr algn="ctr">
              <a:spcAft>
                <a:spcPts val="2400"/>
              </a:spcAft>
              <a:defRPr sz="2600" b="0">
                <a:solidFill>
                  <a:srgbClr val="F5F0E0"/>
                </a:solidFill>
                <a:latin typeface="Calibri"/>
              </a:defRPr>
            </a:pPr>
            <a:r>
              <a:t>The group must make a choice:</a:t>
            </a:r>
          </a:p>
          <a:p>
            <a:pPr algn="ctr">
              <a:spcAft>
                <a:spcPts val="1000"/>
              </a:spcAft>
              <a:defRPr sz="3600" b="1">
                <a:solidFill>
                  <a:srgbClr val="DAA520"/>
                </a:solidFill>
                <a:latin typeface="Calibri"/>
              </a:defRPr>
            </a:pPr>
            <a:r>
              <a:t>"END THE GAME"</a:t>
            </a:r>
          </a:p>
          <a:p>
            <a:pPr algn="ctr">
              <a:spcAft>
                <a:spcPts val="800"/>
              </a:spcAft>
              <a:defRPr sz="2400" b="0">
                <a:solidFill>
                  <a:srgbClr val="F5F0E0"/>
                </a:solidFill>
                <a:latin typeface="Calibri"/>
              </a:defRPr>
            </a:pPr>
            <a:r>
              <a:t>If the group votes to END, the game is over.</a:t>
            </a:r>
          </a:p>
          <a:p>
            <a:pPr algn="ctr">
              <a:spcAft>
                <a:spcPts val="2000"/>
              </a:spcAft>
              <a:defRPr sz="2400" b="0">
                <a:solidFill>
                  <a:srgbClr val="F5F0E0"/>
                </a:solidFill>
                <a:latin typeface="Calibri"/>
              </a:defRPr>
            </a:pPr>
            <a:r>
              <a:t>All remaining Traitors are revealed.</a:t>
            </a:r>
          </a:p>
          <a:p>
            <a:pPr algn="ctr">
              <a:spcAft>
                <a:spcPts val="1000"/>
              </a:spcAft>
              <a:defRPr sz="3600" b="1">
                <a:solidFill>
                  <a:srgbClr val="AA0000"/>
                </a:solidFill>
                <a:latin typeface="Calibri"/>
              </a:defRPr>
            </a:pPr>
            <a:r>
              <a:t>"CONTINUE"</a:t>
            </a:r>
          </a:p>
          <a:p>
            <a:pPr algn="ctr">
              <a:spcAft>
                <a:spcPts val="800"/>
              </a:spcAft>
              <a:defRPr sz="2400" b="0">
                <a:solidFill>
                  <a:srgbClr val="F5F0E0"/>
                </a:solidFill>
                <a:latin typeface="Calibri"/>
              </a:defRPr>
            </a:pPr>
            <a:r>
              <a:t>If the group votes to CONTINUE, another banishment occurs.</a:t>
            </a:r>
          </a:p>
          <a:p>
            <a:pPr algn="ctr">
              <a:spcAft>
                <a:spcPts val="2400"/>
              </a:spcAft>
              <a:defRPr sz="2400" b="0">
                <a:solidFill>
                  <a:srgbClr val="F5F0E0"/>
                </a:solidFill>
                <a:latin typeface="Calibri"/>
              </a:defRPr>
            </a:pPr>
            <a:r>
              <a:t>The circle shrinks further. Another vote at 5, at 4...</a:t>
            </a:r>
          </a:p>
          <a:p>
            <a:pPr algn="ctr">
              <a:spcAft>
                <a:spcPts val="800"/>
              </a:spcAft>
              <a:defRPr sz="2800" b="1">
                <a:solidFill>
                  <a:srgbClr val="AA0000"/>
                </a:solidFill>
                <a:latin typeface="Calibri"/>
              </a:defRPr>
            </a:pPr>
            <a:r>
              <a:t>If any Traitors remain when you END: they win.</a:t>
            </a:r>
          </a:p>
          <a:p>
            <a:pPr algn="ctr">
              <a:spcAft>
                <a:spcPts val="800"/>
              </a:spcAft>
              <a:defRPr sz="2800" b="1">
                <a:solidFill>
                  <a:srgbClr val="DAA520"/>
                </a:solidFill>
                <a:latin typeface="Calibri"/>
              </a:defRPr>
            </a:pPr>
            <a:r>
              <a:t>If all Traitors are gone when you END: the Faithful win.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54535" y="0"/>
            <a:ext cx="13716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84848"/>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647" y="274320"/>
            <a:ext cx="10058400" cy="914400"/>
          </a:xfrm>
          <a:prstGeom prst="rect">
            <a:avLst/>
          </a:prstGeom>
          <a:noFill/>
        </p:spPr>
        <p:txBody>
          <a:bodyPr wrap="square"/>
          <a:lstStyle/>
          <a:p>
            <a:pPr algn="ctr">
              <a:lnSpc>
                <a:spcPct val="130000"/>
              </a:lnSpc>
              <a:spcAft>
                <a:spcPts val="600"/>
              </a:spcAft>
              <a:defRPr sz="4000" b="1">
                <a:solidFill>
                  <a:srgbClr val="DAA520"/>
                </a:solidFill>
                <a:latin typeface="Calibri"/>
              </a:defRPr>
            </a:pPr>
            <a:r>
              <a:t>The Rules</a:t>
            </a:r>
          </a:p>
        </p:txBody>
      </p:sp>
      <p:sp>
        <p:nvSpPr>
          <p:cNvPr id="7" name="Rectangle 6"/>
          <p:cNvSpPr/>
          <p:nvPr/>
        </p:nvSpPr>
        <p:spPr>
          <a:xfrm>
            <a:off x="4724247" y="960120"/>
            <a:ext cx="2743200" cy="36576"/>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3847" y="1280160"/>
            <a:ext cx="9144000" cy="9601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23847" y="1280160"/>
            <a:ext cx="109728" cy="96012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89607" y="1353312"/>
            <a:ext cx="8412480" cy="411480"/>
          </a:xfrm>
          <a:prstGeom prst="rect">
            <a:avLst/>
          </a:prstGeom>
          <a:noFill/>
        </p:spPr>
        <p:txBody>
          <a:bodyPr wrap="square"/>
          <a:lstStyle/>
          <a:p>
            <a:pPr algn="l">
              <a:lnSpc>
                <a:spcPct val="130000"/>
              </a:lnSpc>
              <a:spcAft>
                <a:spcPts val="600"/>
              </a:spcAft>
              <a:defRPr sz="2400" b="1">
                <a:solidFill>
                  <a:srgbClr val="8B0000"/>
                </a:solidFill>
                <a:latin typeface="Calibri"/>
              </a:defRPr>
            </a:pPr>
            <a:r>
              <a:t>30-SECOND SPEAKING LIMIT</a:t>
            </a:r>
          </a:p>
        </p:txBody>
      </p:sp>
      <p:sp>
        <p:nvSpPr>
          <p:cNvPr id="11" name="TextBox 10"/>
          <p:cNvSpPr txBox="1"/>
          <p:nvPr/>
        </p:nvSpPr>
        <p:spPr>
          <a:xfrm>
            <a:off x="1889607" y="1755648"/>
            <a:ext cx="8412480" cy="411480"/>
          </a:xfrm>
          <a:prstGeom prst="rect">
            <a:avLst/>
          </a:prstGeom>
          <a:noFill/>
        </p:spPr>
        <p:txBody>
          <a:bodyPr wrap="square"/>
          <a:lstStyle/>
          <a:p>
            <a:pPr algn="l">
              <a:lnSpc>
                <a:spcPct val="130000"/>
              </a:lnSpc>
              <a:spcAft>
                <a:spcPts val="600"/>
              </a:spcAft>
              <a:defRPr sz="2000" b="0">
                <a:solidFill>
                  <a:srgbClr val="CCCCCC"/>
                </a:solidFill>
                <a:latin typeface="Calibri"/>
              </a:defRPr>
            </a:pPr>
            <a:r>
              <a:t>When called upon, you have 30 seconds. No more.</a:t>
            </a:r>
          </a:p>
        </p:txBody>
      </p:sp>
      <p:sp>
        <p:nvSpPr>
          <p:cNvPr id="12" name="Rectangle 11"/>
          <p:cNvSpPr/>
          <p:nvPr/>
        </p:nvSpPr>
        <p:spPr>
          <a:xfrm>
            <a:off x="1523847" y="2313432"/>
            <a:ext cx="9144000" cy="9601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523847" y="2313432"/>
            <a:ext cx="109728" cy="96012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89607" y="2386584"/>
            <a:ext cx="8412480" cy="411480"/>
          </a:xfrm>
          <a:prstGeom prst="rect">
            <a:avLst/>
          </a:prstGeom>
          <a:noFill/>
        </p:spPr>
        <p:txBody>
          <a:bodyPr wrap="square"/>
          <a:lstStyle/>
          <a:p>
            <a:pPr algn="l">
              <a:lnSpc>
                <a:spcPct val="130000"/>
              </a:lnSpc>
              <a:spcAft>
                <a:spcPts val="600"/>
              </a:spcAft>
              <a:defRPr sz="2400" b="1">
                <a:solidFill>
                  <a:srgbClr val="8B0000"/>
                </a:solidFill>
                <a:latin typeface="Calibri"/>
              </a:defRPr>
            </a:pPr>
            <a:r>
              <a:t>NO WHISPERING</a:t>
            </a:r>
          </a:p>
        </p:txBody>
      </p:sp>
      <p:sp>
        <p:nvSpPr>
          <p:cNvPr id="15" name="TextBox 14"/>
          <p:cNvSpPr txBox="1"/>
          <p:nvPr/>
        </p:nvSpPr>
        <p:spPr>
          <a:xfrm>
            <a:off x="1889607" y="2788920"/>
            <a:ext cx="8412480" cy="411480"/>
          </a:xfrm>
          <a:prstGeom prst="rect">
            <a:avLst/>
          </a:prstGeom>
          <a:noFill/>
        </p:spPr>
        <p:txBody>
          <a:bodyPr wrap="square"/>
          <a:lstStyle/>
          <a:p>
            <a:pPr algn="l">
              <a:lnSpc>
                <a:spcPct val="130000"/>
              </a:lnSpc>
              <a:spcAft>
                <a:spcPts val="600"/>
              </a:spcAft>
              <a:defRPr sz="2000" b="0">
                <a:solidFill>
                  <a:srgbClr val="CCCCCC"/>
                </a:solidFill>
                <a:latin typeface="Calibri"/>
              </a:defRPr>
            </a:pPr>
            <a:r>
              <a:t>All conversation is public. Side chats are forbidden.</a:t>
            </a:r>
          </a:p>
        </p:txBody>
      </p:sp>
      <p:sp>
        <p:nvSpPr>
          <p:cNvPr id="16" name="Rectangle 15"/>
          <p:cNvSpPr/>
          <p:nvPr/>
        </p:nvSpPr>
        <p:spPr>
          <a:xfrm>
            <a:off x="1523847" y="3346704"/>
            <a:ext cx="9144000" cy="9601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523847" y="3346704"/>
            <a:ext cx="109728" cy="96012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89607" y="3419856"/>
            <a:ext cx="8412480" cy="411480"/>
          </a:xfrm>
          <a:prstGeom prst="rect">
            <a:avLst/>
          </a:prstGeom>
          <a:noFill/>
        </p:spPr>
        <p:txBody>
          <a:bodyPr wrap="square"/>
          <a:lstStyle/>
          <a:p>
            <a:pPr algn="l">
              <a:lnSpc>
                <a:spcPct val="130000"/>
              </a:lnSpc>
              <a:spcAft>
                <a:spcPts val="600"/>
              </a:spcAft>
              <a:defRPr sz="2400" b="1">
                <a:solidFill>
                  <a:srgbClr val="8B0000"/>
                </a:solidFill>
                <a:latin typeface="Calibri"/>
              </a:defRPr>
            </a:pPr>
            <a:r>
              <a:t>NO PHONES</a:t>
            </a:r>
          </a:p>
        </p:txBody>
      </p:sp>
      <p:sp>
        <p:nvSpPr>
          <p:cNvPr id="19" name="TextBox 18"/>
          <p:cNvSpPr txBox="1"/>
          <p:nvPr/>
        </p:nvSpPr>
        <p:spPr>
          <a:xfrm>
            <a:off x="1889607" y="3822192"/>
            <a:ext cx="8412480" cy="411480"/>
          </a:xfrm>
          <a:prstGeom prst="rect">
            <a:avLst/>
          </a:prstGeom>
          <a:noFill/>
        </p:spPr>
        <p:txBody>
          <a:bodyPr wrap="square"/>
          <a:lstStyle/>
          <a:p>
            <a:pPr algn="l">
              <a:lnSpc>
                <a:spcPct val="130000"/>
              </a:lnSpc>
              <a:spcAft>
                <a:spcPts val="600"/>
              </a:spcAft>
              <a:defRPr sz="2000" b="0">
                <a:solidFill>
                  <a:srgbClr val="CCCCCC"/>
                </a:solidFill>
                <a:latin typeface="Calibri"/>
              </a:defRPr>
            </a:pPr>
            <a:r>
              <a:t>Phones away during all active phases. Only permitted during Night.</a:t>
            </a:r>
          </a:p>
        </p:txBody>
      </p:sp>
      <p:sp>
        <p:nvSpPr>
          <p:cNvPr id="20" name="Rectangle 19"/>
          <p:cNvSpPr/>
          <p:nvPr/>
        </p:nvSpPr>
        <p:spPr>
          <a:xfrm>
            <a:off x="1523847" y="4379976"/>
            <a:ext cx="9144000" cy="9601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523847" y="4379976"/>
            <a:ext cx="109728" cy="96012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89607" y="4453128"/>
            <a:ext cx="8412480" cy="411480"/>
          </a:xfrm>
          <a:prstGeom prst="rect">
            <a:avLst/>
          </a:prstGeom>
          <a:noFill/>
        </p:spPr>
        <p:txBody>
          <a:bodyPr wrap="square"/>
          <a:lstStyle/>
          <a:p>
            <a:pPr algn="l">
              <a:lnSpc>
                <a:spcPct val="130000"/>
              </a:lnSpc>
              <a:spcAft>
                <a:spcPts val="600"/>
              </a:spcAft>
              <a:defRPr sz="2400" b="1">
                <a:solidFill>
                  <a:srgbClr val="8B0000"/>
                </a:solidFill>
                <a:latin typeface="Calibri"/>
              </a:defRPr>
            </a:pPr>
            <a:r>
              <a:t>ELIMINATED PLAYERS: SILENCE</a:t>
            </a:r>
          </a:p>
        </p:txBody>
      </p:sp>
      <p:sp>
        <p:nvSpPr>
          <p:cNvPr id="23" name="TextBox 22"/>
          <p:cNvSpPr txBox="1"/>
          <p:nvPr/>
        </p:nvSpPr>
        <p:spPr>
          <a:xfrm>
            <a:off x="1889607" y="4855464"/>
            <a:ext cx="8412480" cy="411480"/>
          </a:xfrm>
          <a:prstGeom prst="rect">
            <a:avLst/>
          </a:prstGeom>
          <a:noFill/>
        </p:spPr>
        <p:txBody>
          <a:bodyPr wrap="square"/>
          <a:lstStyle/>
          <a:p>
            <a:pPr algn="l">
              <a:lnSpc>
                <a:spcPct val="130000"/>
              </a:lnSpc>
              <a:spcAft>
                <a:spcPts val="600"/>
              </a:spcAft>
              <a:defRPr sz="2000" b="0">
                <a:solidFill>
                  <a:srgbClr val="CCCCCC"/>
                </a:solidFill>
                <a:latin typeface="Calibri"/>
              </a:defRPr>
            </a:pPr>
            <a:r>
              <a:t>Once banished or murdered, you may not speak, gesture, or influence.</a:t>
            </a:r>
          </a:p>
        </p:txBody>
      </p:sp>
      <p:sp>
        <p:nvSpPr>
          <p:cNvPr id="24" name="Rectangle 23"/>
          <p:cNvSpPr/>
          <p:nvPr/>
        </p:nvSpPr>
        <p:spPr>
          <a:xfrm>
            <a:off x="1523847" y="5413248"/>
            <a:ext cx="9144000" cy="9601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523847" y="5413248"/>
            <a:ext cx="109728" cy="960120"/>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89607" y="5486400"/>
            <a:ext cx="8412480" cy="411480"/>
          </a:xfrm>
          <a:prstGeom prst="rect">
            <a:avLst/>
          </a:prstGeom>
          <a:noFill/>
        </p:spPr>
        <p:txBody>
          <a:bodyPr wrap="square"/>
          <a:lstStyle/>
          <a:p>
            <a:pPr algn="l">
              <a:lnSpc>
                <a:spcPct val="130000"/>
              </a:lnSpc>
              <a:spcAft>
                <a:spcPts val="600"/>
              </a:spcAft>
              <a:defRPr sz="2400" b="1">
                <a:solidFill>
                  <a:srgbClr val="DAA520"/>
                </a:solidFill>
                <a:latin typeface="Calibri"/>
              </a:defRPr>
            </a:pPr>
            <a:r>
              <a:t>HOST DECISIONS ARE FINAL</a:t>
            </a:r>
          </a:p>
        </p:txBody>
      </p:sp>
      <p:sp>
        <p:nvSpPr>
          <p:cNvPr id="27" name="TextBox 26"/>
          <p:cNvSpPr txBox="1"/>
          <p:nvPr/>
        </p:nvSpPr>
        <p:spPr>
          <a:xfrm>
            <a:off x="1889607" y="5888736"/>
            <a:ext cx="8412480" cy="411480"/>
          </a:xfrm>
          <a:prstGeom prst="rect">
            <a:avLst/>
          </a:prstGeom>
          <a:noFill/>
        </p:spPr>
        <p:txBody>
          <a:bodyPr wrap="square"/>
          <a:lstStyle/>
          <a:p>
            <a:pPr algn="l">
              <a:lnSpc>
                <a:spcPct val="130000"/>
              </a:lnSpc>
              <a:spcAft>
                <a:spcPts val="600"/>
              </a:spcAft>
              <a:defRPr sz="2000" b="0">
                <a:solidFill>
                  <a:srgbClr val="CCCCCC"/>
                </a:solidFill>
                <a:latin typeface="Calibri"/>
              </a:defRPr>
            </a:pPr>
            <a:r>
              <a:t>The Host's word is law. No appeals. No arguments.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0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731520"/>
            <a:ext cx="9448495" cy="5394960"/>
          </a:xfrm>
          <a:prstGeom prst="rect">
            <a:avLst/>
          </a:prstGeom>
          <a:solidFill>
            <a:srgbClr val="0E0606"/>
          </a:solidFill>
          <a:ln w="1905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54864"/>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03136"/>
            <a:ext cx="12191695" cy="54864"/>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09847" y="2103120"/>
            <a:ext cx="4572000" cy="27432"/>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23847" y="2286000"/>
            <a:ext cx="9144000" cy="1371600"/>
          </a:xfrm>
          <a:prstGeom prst="rect">
            <a:avLst/>
          </a:prstGeom>
          <a:noFill/>
        </p:spPr>
        <p:txBody>
          <a:bodyPr wrap="square"/>
          <a:lstStyle/>
          <a:p>
            <a:pPr algn="ctr">
              <a:lnSpc>
                <a:spcPct val="130000"/>
              </a:lnSpc>
              <a:spcAft>
                <a:spcPts val="600"/>
              </a:spcAft>
              <a:defRPr sz="5600" b="1">
                <a:solidFill>
                  <a:srgbClr val="DAA520"/>
                </a:solidFill>
                <a:latin typeface="Calibri"/>
              </a:defRPr>
            </a:pPr>
            <a:r>
              <a:t>Let the Game Begin</a:t>
            </a:r>
          </a:p>
        </p:txBody>
      </p:sp>
      <p:sp>
        <p:nvSpPr>
          <p:cNvPr id="8" name="Rectangle 7"/>
          <p:cNvSpPr/>
          <p:nvPr/>
        </p:nvSpPr>
        <p:spPr>
          <a:xfrm>
            <a:off x="3809847" y="3749039"/>
            <a:ext cx="4572000" cy="27432"/>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38247" y="4023360"/>
            <a:ext cx="7315200" cy="2286000"/>
          </a:xfrm>
          <a:prstGeom prst="rect">
            <a:avLst/>
          </a:prstGeom>
          <a:noFill/>
        </p:spPr>
        <p:txBody>
          <a:bodyPr wrap="square"/>
          <a:lstStyle/>
          <a:p>
            <a:pPr algn="ctr">
              <a:spcAft>
                <a:spcPts val="1400"/>
              </a:spcAft>
              <a:defRPr sz="2600" b="0">
                <a:solidFill>
                  <a:srgbClr val="F5F0E0"/>
                </a:solidFill>
                <a:latin typeface="Calibri"/>
              </a:defRPr>
            </a:pPr>
            <a:r>
              <a:t>The castle doors are sealed.</a:t>
            </a:r>
          </a:p>
          <a:p>
            <a:pPr algn="ctr">
              <a:spcAft>
                <a:spcPts val="1400"/>
              </a:spcAft>
              <a:defRPr sz="2600" b="1">
                <a:solidFill>
                  <a:srgbClr val="8B0000"/>
                </a:solidFill>
                <a:latin typeface="Calibri"/>
              </a:defRPr>
            </a:pPr>
            <a:r>
              <a:t>The Traitors are among you.</a:t>
            </a:r>
          </a:p>
          <a:p>
            <a:pPr algn="ctr">
              <a:spcAft>
                <a:spcPts val="800"/>
              </a:spcAft>
              <a:defRPr sz="3200" b="1">
                <a:solidFill>
                  <a:srgbClr val="AA0000"/>
                </a:solidFill>
                <a:latin typeface="Calibri"/>
              </a:defRPr>
            </a:pPr>
            <a:r>
              <a:t>Trust no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